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152" d="100"/>
          <a:sy n="152" d="100"/>
        </p:scale>
        <p:origin x="604" y="10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90D9A4D-749E-46ED-A72D-AC1E0EA384F8}"/>
              </a:ext>
            </a:extLst>
          </p:cNvPr>
          <p:cNvSpPr>
            <a:spLocks noGrp="1"/>
          </p:cNvSpPr>
          <p:nvPr/>
        </p:nvSpPr>
        <p:spPr>
          <a:xfrm>
            <a:off x="685800" y="64770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>
                <a:solidFill>
                  <a:srgbClr val="59D7E8"/>
                </a:solidFill>
              </a:defRPr>
            </a:pPr>
            <a:r>
              <a:rPr sz="1050" b="1">
                <a:solidFill>
                  <a:srgbClr val="59D7E8"/>
                </a:solidFill>
              </a:rPr>
              <a:t>COMP6841 PROJECT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BA62C81-BE63-49C7-B18C-10C091214F37}"/>
              </a:ext>
            </a:extLst>
          </p:cNvPr>
          <p:cNvSpPr>
            <a:spLocks noGrp="1"/>
          </p:cNvSpPr>
          <p:nvPr/>
        </p:nvSpPr>
        <p:spPr>
          <a:xfrm>
            <a:off x="685800" y="1295400"/>
            <a:ext cx="78105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4200" b="1">
                <a:solidFill>
                  <a:srgbClr val="EEF5F0"/>
                </a:solidFill>
              </a:defRPr>
            </a:pPr>
            <a:r>
              <a:rPr sz="4200" b="1">
                <a:solidFill>
                  <a:srgbClr val="EEF5F0"/>
                </a:solidFill>
              </a:rPr>
              <a:t>Signal Forge CTF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DA9C2F4-C59E-42B1-B540-5D62C52207B2}"/>
              </a:ext>
            </a:extLst>
          </p:cNvPr>
          <p:cNvSpPr>
            <a:spLocks noGrp="1"/>
          </p:cNvSpPr>
          <p:nvPr/>
        </p:nvSpPr>
        <p:spPr>
          <a:xfrm>
            <a:off x="685800" y="2152650"/>
            <a:ext cx="7239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950" b="0">
                <a:solidFill>
                  <a:srgbClr val="A8B4AE"/>
                </a:solidFill>
              </a:defRPr>
            </a:pPr>
            <a:r>
              <a:rPr sz="1950" b="0">
                <a:solidFill>
                  <a:srgbClr val="A8B4AE"/>
                </a:solidFill>
              </a:rPr>
              <a:t>A local training range for contested-spectrum security.</a:t>
            </a:r>
          </a:p>
        </p:txBody>
      </p:sp>
      <p:cxnSp>
        <p:nvCxnSpPr>
          <p:cNvPr id="13" name="Straight Arrow Connector 12"/>
          <p:cNvCxnSpPr/>
          <p:nvPr/>
        </p:nvCxnSpPr>
        <p:spPr>
          <a:xfrm>
            <a:off x="685800" y="3409950"/>
            <a:ext cx="6076950" cy="0"/>
          </a:xfrm>
          <a:prstGeom prst="straightConnector1">
            <a:avLst/>
          </a:prstGeom>
          <a:ln w="28575">
            <a:solidFill>
              <a:srgbClr val="73F2A6"/>
            </a:solidFill>
            <a:prstDash val="solid"/>
          </a:ln>
        </p:spPr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CBDA81E0-D77D-47AF-A66E-34F6472C7EF7}"/>
              </a:ext>
            </a:extLst>
          </p:cNvPr>
          <p:cNvSpPr>
            <a:spLocks noGrp="1"/>
          </p:cNvSpPr>
          <p:nvPr/>
        </p:nvSpPr>
        <p:spPr>
          <a:xfrm>
            <a:off x="685800" y="3790950"/>
            <a:ext cx="72390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100" b="0">
                <a:solidFill>
                  <a:srgbClr val="EEF5F0"/>
                </a:solidFill>
              </a:defRPr>
            </a:pPr>
            <a:r>
              <a:rPr sz="2100" b="0">
                <a:solidFill>
                  <a:srgbClr val="EEF5F0"/>
                </a:solidFill>
              </a:rPr>
              <a:t>Radio signals feed software decisions. This project lets learners inspect that chain without transmit hardware.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72005D9-B8AE-4241-B4F0-59720403FA9C}"/>
              </a:ext>
            </a:extLst>
          </p:cNvPr>
          <p:cNvSpPr>
            <a:spLocks noGrp="1"/>
          </p:cNvSpPr>
          <p:nvPr/>
        </p:nvSpPr>
        <p:spPr>
          <a:xfrm>
            <a:off x="8286750" y="1104900"/>
            <a:ext cx="2381250" cy="3905250"/>
          </a:xfrm>
          <a:prstGeom prst="rect">
            <a:avLst/>
          </a:prstGeom>
          <a:solidFill>
            <a:srgbClr val="07100F"/>
          </a:solidFill>
          <a:ln w="9525">
            <a:solidFill>
              <a:srgbClr val="2A363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A4B0E9F-73F8-4C95-8AC3-0C2463B2EB2C}"/>
              </a:ext>
            </a:extLst>
          </p:cNvPr>
          <p:cNvSpPr>
            <a:spLocks noGrp="1"/>
          </p:cNvSpPr>
          <p:nvPr/>
        </p:nvSpPr>
        <p:spPr>
          <a:xfrm>
            <a:off x="8610600" y="1466850"/>
            <a:ext cx="342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1">
                <a:solidFill>
                  <a:srgbClr val="59D7E8"/>
                </a:solidFill>
              </a:defRPr>
            </a:pPr>
            <a:r>
              <a:rPr sz="975" b="1">
                <a:solidFill>
                  <a:srgbClr val="59D7E8"/>
                </a:solidFill>
              </a:rPr>
              <a:t>RANGE STATUS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167AB3A-70AA-498E-8D0C-8B8FCCAF5FC3}"/>
              </a:ext>
            </a:extLst>
          </p:cNvPr>
          <p:cNvSpPr>
            <a:spLocks noGrp="1"/>
          </p:cNvSpPr>
          <p:nvPr/>
        </p:nvSpPr>
        <p:spPr>
          <a:xfrm>
            <a:off x="8610600" y="1943100"/>
            <a:ext cx="1809750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0">
                <a:solidFill>
                  <a:srgbClr val="EEF5F0"/>
                </a:solidFill>
              </a:defRPr>
            </a:pPr>
            <a:r>
              <a:rPr sz="1800" b="0">
                <a:solidFill>
                  <a:srgbClr val="EEF5F0"/>
                </a:solidFill>
              </a:rPr>
              <a:t>Sim-first</a:t>
            </a:r>
          </a:p>
          <a:p>
            <a:pPr algn="l">
              <a:defRPr sz="1800" b="0">
                <a:solidFill>
                  <a:srgbClr val="EEF5F0"/>
                </a:solidFill>
              </a:defRPr>
            </a:pPr>
            <a:r>
              <a:rPr sz="1800" b="0">
                <a:solidFill>
                  <a:srgbClr val="EEF5F0"/>
                </a:solidFill>
              </a:rPr>
              <a:t>GNU Radio backed</a:t>
            </a:r>
          </a:p>
          <a:p>
            <a:pPr algn="l">
              <a:defRPr sz="1800" b="0">
                <a:solidFill>
                  <a:srgbClr val="EEF5F0"/>
                </a:solidFill>
              </a:defRPr>
            </a:pPr>
            <a:r>
              <a:rPr sz="1800" b="0">
                <a:solidFill>
                  <a:srgbClr val="EEF5F0"/>
                </a:solidFill>
              </a:rPr>
              <a:t>Server-validated flags</a:t>
            </a:r>
          </a:p>
          <a:p>
            <a:pPr algn="l">
              <a:defRPr sz="1800" b="0">
                <a:solidFill>
                  <a:srgbClr val="EEF5F0"/>
                </a:solidFill>
              </a:defRPr>
            </a:pPr>
            <a:r>
              <a:rPr sz="1800" b="0">
                <a:solidFill>
                  <a:srgbClr val="EEF5F0"/>
                </a:solidFill>
              </a:rPr>
              <a:t>Live feed hooks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4233544-0E38-4925-A37B-6DB4247EB639}"/>
              </a:ext>
            </a:extLst>
          </p:cNvPr>
          <p:cNvSpPr>
            <a:spLocks noGrp="1"/>
          </p:cNvSpPr>
          <p:nvPr/>
        </p:nvSpPr>
        <p:spPr>
          <a:xfrm>
            <a:off x="8610600" y="4191000"/>
            <a:ext cx="1714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>
                <a:solidFill>
                  <a:srgbClr val="73F2A6"/>
                </a:solidFill>
              </a:defRPr>
            </a:pPr>
            <a:r>
              <a:rPr sz="1350" b="1">
                <a:solidFill>
                  <a:srgbClr val="73F2A6"/>
                </a:solidFill>
              </a:rPr>
              <a:t>No transmit path required.</a:t>
            </a:r>
          </a:p>
        </p:txBody>
      </p:sp>
    </p:spTree>
    <p:extLst>
      <p:ext uri="{BB962C8B-B14F-4D97-AF65-F5344CB8AC3E}">
        <p14:creationId xmlns:p14="http://schemas.microsoft.com/office/powerpoint/2010/main" val="19058172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BF1F53B5-A728-4673-92CB-4FD3B6EE0A4D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1">
                <a:solidFill>
                  <a:srgbClr val="59D7E8"/>
                </a:solidFill>
              </a:defRPr>
            </a:pPr>
            <a:r>
              <a:rPr sz="975" b="1">
                <a:solidFill>
                  <a:srgbClr val="59D7E8"/>
                </a:solidFill>
              </a:rPr>
              <a:t>SIGNAL FORGE CTF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26470DA-351F-447E-A358-0FC58D33F1BE}"/>
              </a:ext>
            </a:extLst>
          </p:cNvPr>
          <p:cNvSpPr>
            <a:spLocks noGrp="1"/>
          </p:cNvSpPr>
          <p:nvPr/>
        </p:nvSpPr>
        <p:spPr>
          <a:xfrm>
            <a:off x="10953750" y="6057900"/>
            <a:ext cx="6096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1125" b="0">
                <a:solidFill>
                  <a:srgbClr val="A8B4AE"/>
                </a:solidFill>
              </a:defRPr>
            </a:pPr>
            <a:r>
              <a:rPr sz="1125" b="0">
                <a:solidFill>
                  <a:srgbClr val="A8B4AE"/>
                </a:solidFill>
              </a:rPr>
              <a:t>02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77B9D55-F5DC-4ABA-8B6D-E67D7B3E014B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91440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000" b="1">
                <a:solidFill>
                  <a:srgbClr val="EEF5F0"/>
                </a:solidFill>
              </a:defRPr>
            </a:pPr>
            <a:r>
              <a:rPr sz="3000" b="1">
                <a:solidFill>
                  <a:srgbClr val="EEF5F0"/>
                </a:solidFill>
              </a:rPr>
              <a:t>The project is a technical training range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1EC3E21-C25A-4E88-8367-8EF9BC5BDABA}"/>
              </a:ext>
            </a:extLst>
          </p:cNvPr>
          <p:cNvSpPr>
            <a:spLocks noGrp="1"/>
          </p:cNvSpPr>
          <p:nvPr/>
        </p:nvSpPr>
        <p:spPr>
          <a:xfrm>
            <a:off x="685800" y="1638300"/>
            <a:ext cx="8953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0">
                <a:solidFill>
                  <a:srgbClr val="A8B4AE"/>
                </a:solidFill>
              </a:defRPr>
            </a:pPr>
            <a:r>
              <a:rPr sz="1575" b="0">
                <a:solidFill>
                  <a:srgbClr val="A8B4AE"/>
                </a:solidFill>
              </a:rPr>
              <a:t>It is a structured lab for RF analysis, cyber exploitation, and defensive reasoning.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5D681A91-D199-4750-82F4-D076A166BB96}"/>
              </a:ext>
            </a:extLst>
          </p:cNvPr>
          <p:cNvSpPr>
            <a:spLocks noGrp="1"/>
          </p:cNvSpPr>
          <p:nvPr/>
        </p:nvSpPr>
        <p:spPr>
          <a:xfrm>
            <a:off x="685800" y="2819400"/>
            <a:ext cx="76200" cy="76200"/>
          </a:xfrm>
          <a:prstGeom prst="ellipse">
            <a:avLst/>
          </a:prstGeom>
          <a:solidFill>
            <a:srgbClr val="59D7E8"/>
          </a:solidFill>
          <a:ln w="0">
            <a:solidFill>
              <a:srgbClr val="59D7E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E35CCA1-CB5D-4EBD-B5F3-EBDAE9215682}"/>
              </a:ext>
            </a:extLst>
          </p:cNvPr>
          <p:cNvSpPr>
            <a:spLocks noGrp="1"/>
          </p:cNvSpPr>
          <p:nvPr/>
        </p:nvSpPr>
        <p:spPr>
          <a:xfrm>
            <a:off x="933450" y="2724150"/>
            <a:ext cx="8572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 b="0">
                <a:solidFill>
                  <a:srgbClr val="EEF5F0"/>
                </a:solidFill>
              </a:defRPr>
            </a:pPr>
            <a:r>
              <a:rPr sz="1725" b="0">
                <a:solidFill>
                  <a:srgbClr val="EEF5F0"/>
                </a:solidFill>
              </a:rPr>
              <a:t>Learners start with observable signal behaviour: tuning, bursts, timing and modulation.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79057B3-5314-41D1-A7B9-D61D45F6DD00}"/>
              </a:ext>
            </a:extLst>
          </p:cNvPr>
          <p:cNvSpPr>
            <a:spLocks noGrp="1"/>
          </p:cNvSpPr>
          <p:nvPr/>
        </p:nvSpPr>
        <p:spPr>
          <a:xfrm>
            <a:off x="685800" y="3524250"/>
            <a:ext cx="76200" cy="76200"/>
          </a:xfrm>
          <a:prstGeom prst="ellipse">
            <a:avLst/>
          </a:prstGeom>
          <a:solidFill>
            <a:srgbClr val="73F2A6"/>
          </a:solidFill>
          <a:ln w="0">
            <a:solidFill>
              <a:srgbClr val="73F2A6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746F89A-F8F5-4E65-9396-A0554369BD7C}"/>
              </a:ext>
            </a:extLst>
          </p:cNvPr>
          <p:cNvSpPr>
            <a:spLocks noGrp="1"/>
          </p:cNvSpPr>
          <p:nvPr/>
        </p:nvSpPr>
        <p:spPr>
          <a:xfrm>
            <a:off x="933450" y="3429000"/>
            <a:ext cx="8572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 b="0">
                <a:solidFill>
                  <a:srgbClr val="EEF5F0"/>
                </a:solidFill>
              </a:defRPr>
            </a:pPr>
            <a:r>
              <a:rPr sz="1725" b="0">
                <a:solidFill>
                  <a:srgbClr val="EEF5F0"/>
                </a:solidFill>
              </a:rPr>
              <a:t>The decoded radio data becomes input to local software systems: APIs, parsers, firmware and operator views.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35EA1F8-754A-403E-AA59-3E63A37B446A}"/>
              </a:ext>
            </a:extLst>
          </p:cNvPr>
          <p:cNvSpPr>
            <a:spLocks noGrp="1"/>
          </p:cNvSpPr>
          <p:nvPr/>
        </p:nvSpPr>
        <p:spPr>
          <a:xfrm>
            <a:off x="685800" y="4229100"/>
            <a:ext cx="76200" cy="76200"/>
          </a:xfrm>
          <a:prstGeom prst="ellipse">
            <a:avLst/>
          </a:prstGeom>
          <a:solidFill>
            <a:srgbClr val="FFC766"/>
          </a:solidFill>
          <a:ln w="0">
            <a:solidFill>
              <a:srgbClr val="FFC766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483CC38-3541-4B6C-A245-0DFB94FB0420}"/>
              </a:ext>
            </a:extLst>
          </p:cNvPr>
          <p:cNvSpPr>
            <a:spLocks noGrp="1"/>
          </p:cNvSpPr>
          <p:nvPr/>
        </p:nvSpPr>
        <p:spPr>
          <a:xfrm>
            <a:off x="933450" y="4133850"/>
            <a:ext cx="8572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 b="0">
                <a:solidFill>
                  <a:srgbClr val="EEF5F0"/>
                </a:solidFill>
              </a:defRPr>
            </a:pPr>
            <a:r>
              <a:rPr sz="1725" b="0">
                <a:solidFill>
                  <a:srgbClr val="EEF5F0"/>
                </a:solidFill>
              </a:rPr>
              <a:t>Harder tasks ask whether a signal is trustworthy, fresh, authorized and safe to parse.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54E788B-D399-4C50-A949-1FC83A58C1FE}"/>
              </a:ext>
            </a:extLst>
          </p:cNvPr>
          <p:cNvSpPr>
            <a:spLocks noGrp="1"/>
          </p:cNvSpPr>
          <p:nvPr/>
        </p:nvSpPr>
        <p:spPr>
          <a:xfrm>
            <a:off x="685800" y="4933950"/>
            <a:ext cx="76200" cy="76200"/>
          </a:xfrm>
          <a:prstGeom prst="ellipse">
            <a:avLst/>
          </a:prstGeom>
          <a:solidFill>
            <a:srgbClr val="FF6B6B"/>
          </a:solidFill>
          <a:ln w="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3E2B385-99C5-4463-B9BD-4E1B7583C698}"/>
              </a:ext>
            </a:extLst>
          </p:cNvPr>
          <p:cNvSpPr>
            <a:spLocks noGrp="1"/>
          </p:cNvSpPr>
          <p:nvPr/>
        </p:nvSpPr>
        <p:spPr>
          <a:xfrm>
            <a:off x="933450" y="4838700"/>
            <a:ext cx="8572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 b="0">
                <a:solidFill>
                  <a:srgbClr val="EEF5F0"/>
                </a:solidFill>
              </a:defRPr>
            </a:pPr>
            <a:r>
              <a:rPr sz="1725" b="0">
                <a:solidFill>
                  <a:srgbClr val="EEF5F0"/>
                </a:solidFill>
              </a:rPr>
              <a:t>The assessed version stays synthetic, local and receive-only.</a:t>
            </a:r>
          </a:p>
        </p:txBody>
      </p:sp>
    </p:spTree>
    <p:extLst>
      <p:ext uri="{BB962C8B-B14F-4D97-AF65-F5344CB8AC3E}">
        <p14:creationId xmlns:p14="http://schemas.microsoft.com/office/powerpoint/2010/main" val="5766691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20B5827C-06C4-40EC-881C-AA25DE5D5542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1">
                <a:solidFill>
                  <a:srgbClr val="59D7E8"/>
                </a:solidFill>
              </a:defRPr>
            </a:pPr>
            <a:r>
              <a:rPr sz="975" b="1">
                <a:solidFill>
                  <a:srgbClr val="59D7E8"/>
                </a:solidFill>
              </a:rPr>
              <a:t>SIGNAL FORGE CTF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6E1E2C3-E21D-4D6D-A0E1-0530E5BF1D83}"/>
              </a:ext>
            </a:extLst>
          </p:cNvPr>
          <p:cNvSpPr>
            <a:spLocks noGrp="1"/>
          </p:cNvSpPr>
          <p:nvPr/>
        </p:nvSpPr>
        <p:spPr>
          <a:xfrm>
            <a:off x="10953750" y="6057900"/>
            <a:ext cx="6096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1125" b="0">
                <a:solidFill>
                  <a:srgbClr val="A8B4AE"/>
                </a:solidFill>
              </a:defRPr>
            </a:pPr>
            <a:r>
              <a:rPr sz="1125" b="0">
                <a:solidFill>
                  <a:srgbClr val="A8B4AE"/>
                </a:solidFill>
              </a:rPr>
              <a:t>03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3D58C2C-9C23-4A0A-A1E7-0DD2094EEC3A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91440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000" b="1">
                <a:solidFill>
                  <a:srgbClr val="EEF5F0"/>
                </a:solidFill>
              </a:defRPr>
            </a:pPr>
            <a:r>
              <a:rPr sz="3000" b="1">
                <a:solidFill>
                  <a:srgbClr val="EEF5F0"/>
                </a:solidFill>
              </a:rPr>
              <a:t>The site is organised by situations first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E10A2EB-E2D1-4103-97B9-4CA73694286B}"/>
              </a:ext>
            </a:extLst>
          </p:cNvPr>
          <p:cNvSpPr>
            <a:spLocks noGrp="1"/>
          </p:cNvSpPr>
          <p:nvPr/>
        </p:nvSpPr>
        <p:spPr>
          <a:xfrm>
            <a:off x="685800" y="1638300"/>
            <a:ext cx="8953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0">
                <a:solidFill>
                  <a:srgbClr val="A8B4AE"/>
                </a:solidFill>
              </a:defRPr>
            </a:pPr>
            <a:r>
              <a:rPr sz="1575" b="0">
                <a:solidFill>
                  <a:srgbClr val="A8B4AE"/>
                </a:solidFill>
              </a:rPr>
              <a:t>Each context page contains smaller subtasks with their own evidence, hints and flag checks.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0E12BC4-49F8-4855-891C-C7EC9F4131C9}"/>
              </a:ext>
            </a:extLst>
          </p:cNvPr>
          <p:cNvSpPr>
            <a:spLocks noGrp="1"/>
          </p:cNvSpPr>
          <p:nvPr/>
        </p:nvSpPr>
        <p:spPr>
          <a:xfrm>
            <a:off x="685800" y="2628900"/>
            <a:ext cx="2381250" cy="1066800"/>
          </a:xfrm>
          <a:prstGeom prst="rect">
            <a:avLst/>
          </a:prstGeom>
          <a:solidFill>
            <a:srgbClr val="1D2528"/>
          </a:solidFill>
          <a:ln w="9525">
            <a:solidFill>
              <a:srgbClr val="2A363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C9D6760-6F55-4A9F-A4A3-482C40142FF3}"/>
              </a:ext>
            </a:extLst>
          </p:cNvPr>
          <p:cNvSpPr>
            <a:spLocks noGrp="1"/>
          </p:cNvSpPr>
          <p:nvPr/>
        </p:nvSpPr>
        <p:spPr>
          <a:xfrm>
            <a:off x="895350" y="2819400"/>
            <a:ext cx="195262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550" b="1">
                <a:solidFill>
                  <a:srgbClr val="59D7E8"/>
                </a:solidFill>
              </a:defRPr>
            </a:pPr>
            <a:r>
              <a:rPr sz="2550" b="1">
                <a:solidFill>
                  <a:srgbClr val="59D7E8"/>
                </a:solidFill>
              </a:rPr>
              <a:t>6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BA14E63-F50B-45D6-B535-8B4227B96A86}"/>
              </a:ext>
            </a:extLst>
          </p:cNvPr>
          <p:cNvSpPr>
            <a:spLocks noGrp="1"/>
          </p:cNvSpPr>
          <p:nvPr/>
        </p:nvSpPr>
        <p:spPr>
          <a:xfrm>
            <a:off x="895350" y="3295650"/>
            <a:ext cx="19526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A8B4AE"/>
                </a:solidFill>
              </a:defRPr>
            </a:pPr>
            <a:r>
              <a:rPr sz="1350" b="0">
                <a:solidFill>
                  <a:srgbClr val="A8B4AE"/>
                </a:solidFill>
              </a:rPr>
              <a:t>contexts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F02AB72-8CEA-4C08-82F0-81091F0873CF}"/>
              </a:ext>
            </a:extLst>
          </p:cNvPr>
          <p:cNvSpPr>
            <a:spLocks noGrp="1"/>
          </p:cNvSpPr>
          <p:nvPr/>
        </p:nvSpPr>
        <p:spPr>
          <a:xfrm>
            <a:off x="3409950" y="2628900"/>
            <a:ext cx="2381250" cy="1066800"/>
          </a:xfrm>
          <a:prstGeom prst="rect">
            <a:avLst/>
          </a:prstGeom>
          <a:solidFill>
            <a:srgbClr val="1D2528"/>
          </a:solidFill>
          <a:ln w="9525">
            <a:solidFill>
              <a:srgbClr val="2A363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BCF75E6-368A-4E0C-9C82-B3904E60C364}"/>
              </a:ext>
            </a:extLst>
          </p:cNvPr>
          <p:cNvSpPr>
            <a:spLocks noGrp="1"/>
          </p:cNvSpPr>
          <p:nvPr/>
        </p:nvSpPr>
        <p:spPr>
          <a:xfrm>
            <a:off x="3619500" y="2819400"/>
            <a:ext cx="195262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550" b="1">
                <a:solidFill>
                  <a:srgbClr val="73F2A6"/>
                </a:solidFill>
              </a:defRPr>
            </a:pPr>
            <a:r>
              <a:rPr sz="2550" b="1">
                <a:solidFill>
                  <a:srgbClr val="73F2A6"/>
                </a:solidFill>
              </a:rPr>
              <a:t>22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18BDA0F-535A-4E0E-BD70-D6C70055056D}"/>
              </a:ext>
            </a:extLst>
          </p:cNvPr>
          <p:cNvSpPr>
            <a:spLocks noGrp="1"/>
          </p:cNvSpPr>
          <p:nvPr/>
        </p:nvSpPr>
        <p:spPr>
          <a:xfrm>
            <a:off x="3619500" y="3295650"/>
            <a:ext cx="19526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A8B4AE"/>
                </a:solidFill>
              </a:defRPr>
            </a:pPr>
            <a:r>
              <a:rPr sz="1350" b="0">
                <a:solidFill>
                  <a:srgbClr val="A8B4AE"/>
                </a:solidFill>
              </a:rPr>
              <a:t>flag subtasks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DDBEA97-EDA6-4FCB-B472-B5ED4AFC7B72}"/>
              </a:ext>
            </a:extLst>
          </p:cNvPr>
          <p:cNvSpPr>
            <a:spLocks noGrp="1"/>
          </p:cNvSpPr>
          <p:nvPr/>
        </p:nvSpPr>
        <p:spPr>
          <a:xfrm>
            <a:off x="6134100" y="2628900"/>
            <a:ext cx="2381250" cy="1066800"/>
          </a:xfrm>
          <a:prstGeom prst="rect">
            <a:avLst/>
          </a:prstGeom>
          <a:solidFill>
            <a:srgbClr val="1D2528"/>
          </a:solidFill>
          <a:ln w="9525">
            <a:solidFill>
              <a:srgbClr val="2A363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D97A1DF-EF7D-4D99-9863-06A1570D6F37}"/>
              </a:ext>
            </a:extLst>
          </p:cNvPr>
          <p:cNvSpPr>
            <a:spLocks noGrp="1"/>
          </p:cNvSpPr>
          <p:nvPr/>
        </p:nvSpPr>
        <p:spPr>
          <a:xfrm>
            <a:off x="6343650" y="2819400"/>
            <a:ext cx="195262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550" b="1">
                <a:solidFill>
                  <a:srgbClr val="FFC766"/>
                </a:solidFill>
              </a:defRPr>
            </a:pPr>
            <a:r>
              <a:rPr sz="2550" b="1">
                <a:solidFill>
                  <a:srgbClr val="FFC766"/>
                </a:solidFill>
              </a:rPr>
              <a:t>local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83D1E71-B265-41B4-A476-D297F969AA03}"/>
              </a:ext>
            </a:extLst>
          </p:cNvPr>
          <p:cNvSpPr>
            <a:spLocks noGrp="1"/>
          </p:cNvSpPr>
          <p:nvPr/>
        </p:nvSpPr>
        <p:spPr>
          <a:xfrm>
            <a:off x="6343650" y="3295650"/>
            <a:ext cx="19526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A8B4AE"/>
                </a:solidFill>
              </a:defRPr>
            </a:pPr>
            <a:r>
              <a:rPr sz="1350" b="0">
                <a:solidFill>
                  <a:srgbClr val="A8B4AE"/>
                </a:solidFill>
              </a:rPr>
              <a:t>training mode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39A8022-B11A-4E1C-8615-F18E10096AD6}"/>
              </a:ext>
            </a:extLst>
          </p:cNvPr>
          <p:cNvSpPr>
            <a:spLocks noGrp="1"/>
          </p:cNvSpPr>
          <p:nvPr/>
        </p:nvSpPr>
        <p:spPr>
          <a:xfrm>
            <a:off x="8858250" y="2628900"/>
            <a:ext cx="2381250" cy="1066800"/>
          </a:xfrm>
          <a:prstGeom prst="rect">
            <a:avLst/>
          </a:prstGeom>
          <a:solidFill>
            <a:srgbClr val="1D2528"/>
          </a:solidFill>
          <a:ln w="9525">
            <a:solidFill>
              <a:srgbClr val="2A363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45158DF-4CF3-4C8E-A6B3-9B0F56B26C1B}"/>
              </a:ext>
            </a:extLst>
          </p:cNvPr>
          <p:cNvSpPr>
            <a:spLocks noGrp="1"/>
          </p:cNvSpPr>
          <p:nvPr/>
        </p:nvSpPr>
        <p:spPr>
          <a:xfrm>
            <a:off x="9067800" y="2819400"/>
            <a:ext cx="195262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550" b="1">
                <a:solidFill>
                  <a:srgbClr val="59D7E8"/>
                </a:solidFill>
              </a:defRPr>
            </a:pPr>
            <a:r>
              <a:rPr sz="2550" b="1">
                <a:solidFill>
                  <a:srgbClr val="59D7E8"/>
                </a:solidFill>
              </a:rPr>
              <a:t>GNU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13BF94E-F12A-4B9A-B48C-188717AA98A3}"/>
              </a:ext>
            </a:extLst>
          </p:cNvPr>
          <p:cNvSpPr>
            <a:spLocks noGrp="1"/>
          </p:cNvSpPr>
          <p:nvPr/>
        </p:nvSpPr>
        <p:spPr>
          <a:xfrm>
            <a:off x="9067800" y="3295650"/>
            <a:ext cx="19526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A8B4AE"/>
                </a:solidFill>
              </a:defRPr>
            </a:pPr>
            <a:r>
              <a:rPr sz="1350" b="0">
                <a:solidFill>
                  <a:srgbClr val="A8B4AE"/>
                </a:solidFill>
              </a:rPr>
              <a:t>signal source</a:t>
            </a:r>
          </a:p>
        </p:txBody>
      </p:sp>
      <p:cxnSp>
        <p:nvCxnSpPr>
          <p:cNvPr id="52" name="Straight Arrow Connector 51"/>
          <p:cNvCxnSpPr/>
          <p:nvPr/>
        </p:nvCxnSpPr>
        <p:spPr>
          <a:xfrm>
            <a:off x="2724150" y="3638550"/>
            <a:ext cx="171450" cy="0"/>
          </a:xfrm>
          <a:prstGeom prst="straightConnector1">
            <a:avLst/>
          </a:prstGeom>
          <a:ln w="19050">
            <a:solidFill>
              <a:srgbClr val="59D7E8"/>
            </a:solidFill>
            <a:prstDash val="solid"/>
          </a:ln>
        </p:spPr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C46811A4-D03A-433D-9761-BDB76F586234}"/>
              </a:ext>
            </a:extLst>
          </p:cNvPr>
          <p:cNvSpPr>
            <a:spLocks noGrp="1"/>
          </p:cNvSpPr>
          <p:nvPr/>
        </p:nvSpPr>
        <p:spPr>
          <a:xfrm>
            <a:off x="685800" y="3162300"/>
            <a:ext cx="2038350" cy="990600"/>
          </a:xfrm>
          <a:prstGeom prst="rect">
            <a:avLst/>
          </a:prstGeom>
          <a:solidFill>
            <a:srgbClr val="141B20"/>
          </a:solidFill>
          <a:ln w="9525">
            <a:solidFill>
              <a:srgbClr val="2A363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AA7D554-481B-44DC-8255-230AD7E50C00}"/>
              </a:ext>
            </a:extLst>
          </p:cNvPr>
          <p:cNvSpPr>
            <a:spLocks noGrp="1"/>
          </p:cNvSpPr>
          <p:nvPr/>
        </p:nvSpPr>
        <p:spPr>
          <a:xfrm>
            <a:off x="838200" y="3333750"/>
            <a:ext cx="1733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59D7E8"/>
                </a:solidFill>
              </a:defRPr>
            </a:pPr>
            <a:r>
              <a:rPr sz="1650" b="1">
                <a:solidFill>
                  <a:srgbClr val="59D7E8"/>
                </a:solidFill>
              </a:rPr>
              <a:t>Context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8E02D29-3856-491F-83AD-E01A507BAD3D}"/>
              </a:ext>
            </a:extLst>
          </p:cNvPr>
          <p:cNvSpPr>
            <a:spLocks noGrp="1"/>
          </p:cNvSpPr>
          <p:nvPr/>
        </p:nvSpPr>
        <p:spPr>
          <a:xfrm>
            <a:off x="838200" y="3676650"/>
            <a:ext cx="1733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A8B4AE"/>
                </a:solidFill>
              </a:defRPr>
            </a:pPr>
            <a:r>
              <a:rPr sz="1200" b="0">
                <a:solidFill>
                  <a:srgbClr val="A8B4AE"/>
                </a:solidFill>
              </a:rPr>
              <a:t>mission scenario</a:t>
            </a:r>
          </a:p>
        </p:txBody>
      </p:sp>
      <p:cxnSp>
        <p:nvCxnSpPr>
          <p:cNvPr id="56" name="Straight Arrow Connector 55"/>
          <p:cNvCxnSpPr/>
          <p:nvPr/>
        </p:nvCxnSpPr>
        <p:spPr>
          <a:xfrm>
            <a:off x="4933950" y="3638550"/>
            <a:ext cx="171450" cy="0"/>
          </a:xfrm>
          <a:prstGeom prst="straightConnector1">
            <a:avLst/>
          </a:prstGeom>
          <a:ln w="19050">
            <a:solidFill>
              <a:srgbClr val="59D7E8"/>
            </a:solidFill>
            <a:prstDash val="solid"/>
          </a:ln>
        </p:spPr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37D39186-5594-4625-8E6B-D49447223CF8}"/>
              </a:ext>
            </a:extLst>
          </p:cNvPr>
          <p:cNvSpPr>
            <a:spLocks noGrp="1"/>
          </p:cNvSpPr>
          <p:nvPr/>
        </p:nvSpPr>
        <p:spPr>
          <a:xfrm>
            <a:off x="2895600" y="3162300"/>
            <a:ext cx="2038350" cy="990600"/>
          </a:xfrm>
          <a:prstGeom prst="rect">
            <a:avLst/>
          </a:prstGeom>
          <a:solidFill>
            <a:srgbClr val="141B20"/>
          </a:solidFill>
          <a:ln w="9525">
            <a:solidFill>
              <a:srgbClr val="2A363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AD5E626-FD79-48AA-A406-DB1344F9C3EC}"/>
              </a:ext>
            </a:extLst>
          </p:cNvPr>
          <p:cNvSpPr>
            <a:spLocks noGrp="1"/>
          </p:cNvSpPr>
          <p:nvPr/>
        </p:nvSpPr>
        <p:spPr>
          <a:xfrm>
            <a:off x="3048000" y="3333750"/>
            <a:ext cx="1733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73F2A6"/>
                </a:solidFill>
              </a:defRPr>
            </a:pPr>
            <a:r>
              <a:rPr sz="1650" b="1">
                <a:solidFill>
                  <a:srgbClr val="73F2A6"/>
                </a:solidFill>
              </a:rPr>
              <a:t>Subtask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049AE43-07B8-4E62-9203-5D2266FE4B83}"/>
              </a:ext>
            </a:extLst>
          </p:cNvPr>
          <p:cNvSpPr>
            <a:spLocks noGrp="1"/>
          </p:cNvSpPr>
          <p:nvPr/>
        </p:nvSpPr>
        <p:spPr>
          <a:xfrm>
            <a:off x="3048000" y="3676650"/>
            <a:ext cx="1733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A8B4AE"/>
                </a:solidFill>
              </a:defRPr>
            </a:pPr>
            <a:r>
              <a:rPr sz="1200" b="0">
                <a:solidFill>
                  <a:srgbClr val="A8B4AE"/>
                </a:solidFill>
              </a:rPr>
              <a:t>single objective</a:t>
            </a:r>
          </a:p>
        </p:txBody>
      </p:sp>
      <p:cxnSp>
        <p:nvCxnSpPr>
          <p:cNvPr id="60" name="Straight Arrow Connector 59"/>
          <p:cNvCxnSpPr/>
          <p:nvPr/>
        </p:nvCxnSpPr>
        <p:spPr>
          <a:xfrm>
            <a:off x="7143750" y="3638550"/>
            <a:ext cx="171450" cy="0"/>
          </a:xfrm>
          <a:prstGeom prst="straightConnector1">
            <a:avLst/>
          </a:prstGeom>
          <a:ln w="19050">
            <a:solidFill>
              <a:srgbClr val="59D7E8"/>
            </a:solidFill>
            <a:prstDash val="solid"/>
          </a:ln>
        </p:spPr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09CF8E57-8F03-4EDC-823F-C4D0BE418316}"/>
              </a:ext>
            </a:extLst>
          </p:cNvPr>
          <p:cNvSpPr>
            <a:spLocks noGrp="1"/>
          </p:cNvSpPr>
          <p:nvPr/>
        </p:nvSpPr>
        <p:spPr>
          <a:xfrm>
            <a:off x="5105400" y="3162300"/>
            <a:ext cx="2038350" cy="990600"/>
          </a:xfrm>
          <a:prstGeom prst="rect">
            <a:avLst/>
          </a:prstGeom>
          <a:solidFill>
            <a:srgbClr val="141B20"/>
          </a:solidFill>
          <a:ln w="9525">
            <a:solidFill>
              <a:srgbClr val="2A363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C65263A-4F8D-4E21-AE35-92800214492D}"/>
              </a:ext>
            </a:extLst>
          </p:cNvPr>
          <p:cNvSpPr>
            <a:spLocks noGrp="1"/>
          </p:cNvSpPr>
          <p:nvPr/>
        </p:nvSpPr>
        <p:spPr>
          <a:xfrm>
            <a:off x="5257800" y="3333750"/>
            <a:ext cx="1733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FFC766"/>
                </a:solidFill>
              </a:defRPr>
            </a:pPr>
            <a:r>
              <a:rPr sz="1650" b="1">
                <a:solidFill>
                  <a:srgbClr val="FFC766"/>
                </a:solidFill>
              </a:rPr>
              <a:t>Workbench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F581819-E164-44B7-8291-F3AB387320AB}"/>
              </a:ext>
            </a:extLst>
          </p:cNvPr>
          <p:cNvSpPr>
            <a:spLocks noGrp="1"/>
          </p:cNvSpPr>
          <p:nvPr/>
        </p:nvSpPr>
        <p:spPr>
          <a:xfrm>
            <a:off x="5257800" y="3676650"/>
            <a:ext cx="1733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A8B4AE"/>
                </a:solidFill>
              </a:defRPr>
            </a:pPr>
            <a:r>
              <a:rPr sz="1200" b="0">
                <a:solidFill>
                  <a:srgbClr val="A8B4AE"/>
                </a:solidFill>
              </a:rPr>
              <a:t>signal + tools</a:t>
            </a:r>
          </a:p>
        </p:txBody>
      </p:sp>
      <p:cxnSp>
        <p:nvCxnSpPr>
          <p:cNvPr id="64" name="Straight Arrow Connector 63"/>
          <p:cNvCxnSpPr/>
          <p:nvPr/>
        </p:nvCxnSpPr>
        <p:spPr>
          <a:xfrm>
            <a:off x="9353550" y="3638550"/>
            <a:ext cx="171450" cy="0"/>
          </a:xfrm>
          <a:prstGeom prst="straightConnector1">
            <a:avLst/>
          </a:prstGeom>
          <a:ln w="19050">
            <a:solidFill>
              <a:srgbClr val="59D7E8"/>
            </a:solidFill>
            <a:prstDash val="solid"/>
          </a:ln>
        </p:spPr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53D6E8F0-2D58-401C-A803-0A851274C244}"/>
              </a:ext>
            </a:extLst>
          </p:cNvPr>
          <p:cNvSpPr>
            <a:spLocks noGrp="1"/>
          </p:cNvSpPr>
          <p:nvPr/>
        </p:nvSpPr>
        <p:spPr>
          <a:xfrm>
            <a:off x="7315200" y="3162300"/>
            <a:ext cx="2038350" cy="990600"/>
          </a:xfrm>
          <a:prstGeom prst="rect">
            <a:avLst/>
          </a:prstGeom>
          <a:solidFill>
            <a:srgbClr val="141B20"/>
          </a:solidFill>
          <a:ln w="9525">
            <a:solidFill>
              <a:srgbClr val="2A363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80466F5-89F4-4FB9-9D0C-5C53DC49B30D}"/>
              </a:ext>
            </a:extLst>
          </p:cNvPr>
          <p:cNvSpPr>
            <a:spLocks noGrp="1"/>
          </p:cNvSpPr>
          <p:nvPr/>
        </p:nvSpPr>
        <p:spPr>
          <a:xfrm>
            <a:off x="7467600" y="3333750"/>
            <a:ext cx="1733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73F2A6"/>
                </a:solidFill>
              </a:defRPr>
            </a:pPr>
            <a:r>
              <a:rPr sz="1650" b="1">
                <a:solidFill>
                  <a:srgbClr val="73F2A6"/>
                </a:solidFill>
              </a:rPr>
              <a:t>Flag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CE06F11-15BD-4D43-B49D-A6E73A6A33A7}"/>
              </a:ext>
            </a:extLst>
          </p:cNvPr>
          <p:cNvSpPr>
            <a:spLocks noGrp="1"/>
          </p:cNvSpPr>
          <p:nvPr/>
        </p:nvSpPr>
        <p:spPr>
          <a:xfrm>
            <a:off x="7467600" y="3676650"/>
            <a:ext cx="1733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A8B4AE"/>
                </a:solidFill>
              </a:defRPr>
            </a:pPr>
            <a:r>
              <a:rPr sz="1200" b="0">
                <a:solidFill>
                  <a:srgbClr val="A8B4AE"/>
                </a:solidFill>
              </a:rPr>
              <a:t>server check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94B324D-C9FA-4E41-AF9E-0A6FAEB69959}"/>
              </a:ext>
            </a:extLst>
          </p:cNvPr>
          <p:cNvSpPr>
            <a:spLocks noGrp="1"/>
          </p:cNvSpPr>
          <p:nvPr/>
        </p:nvSpPr>
        <p:spPr>
          <a:xfrm>
            <a:off x="9525000" y="3162300"/>
            <a:ext cx="2038350" cy="990600"/>
          </a:xfrm>
          <a:prstGeom prst="rect">
            <a:avLst/>
          </a:prstGeom>
          <a:solidFill>
            <a:srgbClr val="10251D"/>
          </a:solidFill>
          <a:ln w="9525">
            <a:solidFill>
              <a:srgbClr val="2A363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510FE80-CE2A-4EBE-9DE5-61FF682346C8}"/>
              </a:ext>
            </a:extLst>
          </p:cNvPr>
          <p:cNvSpPr>
            <a:spLocks noGrp="1"/>
          </p:cNvSpPr>
          <p:nvPr/>
        </p:nvSpPr>
        <p:spPr>
          <a:xfrm>
            <a:off x="9677400" y="3333750"/>
            <a:ext cx="1733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59D7E8"/>
                </a:solidFill>
              </a:defRPr>
            </a:pPr>
            <a:r>
              <a:rPr sz="1650" b="1">
                <a:solidFill>
                  <a:srgbClr val="59D7E8"/>
                </a:solidFill>
              </a:rPr>
              <a:t>Notes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815BBDD-A0EB-4296-9635-39F8D3EBF4D0}"/>
              </a:ext>
            </a:extLst>
          </p:cNvPr>
          <p:cNvSpPr>
            <a:spLocks noGrp="1"/>
          </p:cNvSpPr>
          <p:nvPr/>
        </p:nvSpPr>
        <p:spPr>
          <a:xfrm>
            <a:off x="9677400" y="3676650"/>
            <a:ext cx="1733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A8B4AE"/>
                </a:solidFill>
              </a:defRPr>
            </a:pPr>
            <a:r>
              <a:rPr sz="1200" b="0">
                <a:solidFill>
                  <a:srgbClr val="A8B4AE"/>
                </a:solidFill>
              </a:rPr>
              <a:t>defence lesson</a:t>
            </a:r>
          </a:p>
        </p:txBody>
      </p:sp>
    </p:spTree>
    <p:extLst>
      <p:ext uri="{BB962C8B-B14F-4D97-AF65-F5344CB8AC3E}">
        <p14:creationId xmlns:p14="http://schemas.microsoft.com/office/powerpoint/2010/main" val="13384891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5F940421-BBD5-4901-BFE9-7E5C44F22590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1">
                <a:solidFill>
                  <a:srgbClr val="59D7E8"/>
                </a:solidFill>
              </a:defRPr>
            </a:pPr>
            <a:r>
              <a:rPr sz="975" b="1">
                <a:solidFill>
                  <a:srgbClr val="59D7E8"/>
                </a:solidFill>
              </a:rPr>
              <a:t>SIGNAL FORGE CTF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8A7203F-2D0D-405B-9DA3-6FD8469A661C}"/>
              </a:ext>
            </a:extLst>
          </p:cNvPr>
          <p:cNvSpPr>
            <a:spLocks noGrp="1"/>
          </p:cNvSpPr>
          <p:nvPr/>
        </p:nvSpPr>
        <p:spPr>
          <a:xfrm>
            <a:off x="10953750" y="6057900"/>
            <a:ext cx="6096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1125" b="0">
                <a:solidFill>
                  <a:srgbClr val="A8B4AE"/>
                </a:solidFill>
              </a:defRPr>
            </a:pPr>
            <a:r>
              <a:rPr sz="1125" b="0">
                <a:solidFill>
                  <a:srgbClr val="A8B4AE"/>
                </a:solidFill>
              </a:rPr>
              <a:t>04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297485B-12A3-49B7-A63A-F9A0F3546C21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91440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000" b="1">
                <a:solidFill>
                  <a:srgbClr val="EEF5F0"/>
                </a:solidFill>
              </a:defRPr>
            </a:pPr>
            <a:r>
              <a:rPr sz="3000" b="1">
                <a:solidFill>
                  <a:srgbClr val="EEF5F0"/>
                </a:solidFill>
              </a:rPr>
              <a:t>Signal data should come from GNU Radio scripts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F9CD830-6B8F-4636-A8B7-47EABDB54D89}"/>
              </a:ext>
            </a:extLst>
          </p:cNvPr>
          <p:cNvSpPr>
            <a:spLocks noGrp="1"/>
          </p:cNvSpPr>
          <p:nvPr/>
        </p:nvSpPr>
        <p:spPr>
          <a:xfrm>
            <a:off x="685800" y="1638300"/>
            <a:ext cx="8953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0">
                <a:solidFill>
                  <a:srgbClr val="A8B4AE"/>
                </a:solidFill>
              </a:defRPr>
            </a:pPr>
            <a:r>
              <a:rPr sz="1575" b="0">
                <a:solidFill>
                  <a:srgbClr val="A8B4AE"/>
                </a:solidFill>
              </a:rPr>
              <a:t>The backend should treat generated flowgraphs as the source of truth, then stream samples or derived views into the browser.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045447F-AB36-42EC-92BE-1CE57BE33103}"/>
              </a:ext>
            </a:extLst>
          </p:cNvPr>
          <p:cNvSpPr>
            <a:spLocks noGrp="1"/>
          </p:cNvSpPr>
          <p:nvPr/>
        </p:nvSpPr>
        <p:spPr>
          <a:xfrm>
            <a:off x="685800" y="2628900"/>
            <a:ext cx="3143250" cy="1619250"/>
          </a:xfrm>
          <a:prstGeom prst="rect">
            <a:avLst/>
          </a:prstGeom>
          <a:solidFill>
            <a:srgbClr val="141B20"/>
          </a:solidFill>
          <a:ln w="9525">
            <a:solidFill>
              <a:srgbClr val="2A363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A0B525-D8B9-4F5E-87EE-6FE19184BF61}"/>
              </a:ext>
            </a:extLst>
          </p:cNvPr>
          <p:cNvSpPr>
            <a:spLocks noGrp="1"/>
          </p:cNvSpPr>
          <p:nvPr/>
        </p:nvSpPr>
        <p:spPr>
          <a:xfrm>
            <a:off x="685800" y="2628900"/>
            <a:ext cx="66675" cy="1619250"/>
          </a:xfrm>
          <a:prstGeom prst="rect">
            <a:avLst/>
          </a:prstGeom>
          <a:solidFill>
            <a:srgbClr val="59D7E8"/>
          </a:solidFill>
          <a:ln w="0">
            <a:solidFill>
              <a:srgbClr val="59D7E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B90520C-5720-4CDE-A8A6-B0AED7EDA7D1}"/>
              </a:ext>
            </a:extLst>
          </p:cNvPr>
          <p:cNvSpPr>
            <a:spLocks noGrp="1"/>
          </p:cNvSpPr>
          <p:nvPr/>
        </p:nvSpPr>
        <p:spPr>
          <a:xfrm>
            <a:off x="895350" y="2819400"/>
            <a:ext cx="2705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>
                <a:solidFill>
                  <a:srgbClr val="EEF5F0"/>
                </a:solidFill>
              </a:defRPr>
            </a:pPr>
            <a:r>
              <a:rPr sz="1800" b="1">
                <a:solidFill>
                  <a:srgbClr val="EEF5F0"/>
                </a:solidFill>
              </a:rPr>
              <a:t>Editable source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1A79497-B71F-4696-8A62-BCAF6306032D}"/>
              </a:ext>
            </a:extLst>
          </p:cNvPr>
          <p:cNvSpPr>
            <a:spLocks noGrp="1"/>
          </p:cNvSpPr>
          <p:nvPr/>
        </p:nvSpPr>
        <p:spPr>
          <a:xfrm>
            <a:off x="895350" y="3238500"/>
            <a:ext cx="270510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A8B4AE"/>
                </a:solidFill>
              </a:defRPr>
            </a:pPr>
            <a:r>
              <a:rPr sz="1350" b="0">
                <a:solidFill>
                  <a:srgbClr val="A8B4AE"/>
                </a:solidFill>
              </a:rPr>
              <a:t>Change C, Python, C++ or GNU Radio files to alter payloads, modulation, timing and impairments.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770B95A-1CF5-4050-AACC-9DCC5C5780C4}"/>
              </a:ext>
            </a:extLst>
          </p:cNvPr>
          <p:cNvSpPr>
            <a:spLocks noGrp="1"/>
          </p:cNvSpPr>
          <p:nvPr/>
        </p:nvSpPr>
        <p:spPr>
          <a:xfrm>
            <a:off x="4400550" y="2628900"/>
            <a:ext cx="3143250" cy="1619250"/>
          </a:xfrm>
          <a:prstGeom prst="rect">
            <a:avLst/>
          </a:prstGeom>
          <a:solidFill>
            <a:srgbClr val="141B20"/>
          </a:solidFill>
          <a:ln w="9525">
            <a:solidFill>
              <a:srgbClr val="2A363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EB19AB1-A7E7-412D-B6F7-4E67BB1973C0}"/>
              </a:ext>
            </a:extLst>
          </p:cNvPr>
          <p:cNvSpPr>
            <a:spLocks noGrp="1"/>
          </p:cNvSpPr>
          <p:nvPr/>
        </p:nvSpPr>
        <p:spPr>
          <a:xfrm>
            <a:off x="4400550" y="2628900"/>
            <a:ext cx="66675" cy="1619250"/>
          </a:xfrm>
          <a:prstGeom prst="rect">
            <a:avLst/>
          </a:prstGeom>
          <a:solidFill>
            <a:srgbClr val="73F2A6"/>
          </a:solidFill>
          <a:ln w="0">
            <a:solidFill>
              <a:srgbClr val="73F2A6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A82E2A5-21DC-4846-9437-317078258485}"/>
              </a:ext>
            </a:extLst>
          </p:cNvPr>
          <p:cNvSpPr>
            <a:spLocks noGrp="1"/>
          </p:cNvSpPr>
          <p:nvPr/>
        </p:nvSpPr>
        <p:spPr>
          <a:xfrm>
            <a:off x="4610100" y="2819400"/>
            <a:ext cx="2705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>
                <a:solidFill>
                  <a:srgbClr val="EEF5F0"/>
                </a:solidFill>
              </a:defRPr>
            </a:pPr>
            <a:r>
              <a:rPr sz="1800" b="1">
                <a:solidFill>
                  <a:srgbClr val="EEF5F0"/>
                </a:solidFill>
              </a:rPr>
              <a:t>Backend bridge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E7BAF7A-D691-4A98-AAC0-98658B19D642}"/>
              </a:ext>
            </a:extLst>
          </p:cNvPr>
          <p:cNvSpPr>
            <a:spLocks noGrp="1"/>
          </p:cNvSpPr>
          <p:nvPr/>
        </p:nvSpPr>
        <p:spPr>
          <a:xfrm>
            <a:off x="4610100" y="3238500"/>
            <a:ext cx="270510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A8B4AE"/>
                </a:solidFill>
              </a:defRPr>
            </a:pPr>
            <a:r>
              <a:rPr sz="1350" b="0">
                <a:solidFill>
                  <a:srgbClr val="A8B4AE"/>
                </a:solidFill>
              </a:rPr>
              <a:t>Python runs or parses the generated scripts, synthesizes IQ, and exposes live waterfall frames.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25869C6-6603-4AB7-B659-5198AF8F772C}"/>
              </a:ext>
            </a:extLst>
          </p:cNvPr>
          <p:cNvSpPr>
            <a:spLocks noGrp="1"/>
          </p:cNvSpPr>
          <p:nvPr/>
        </p:nvSpPr>
        <p:spPr>
          <a:xfrm>
            <a:off x="8115300" y="2628900"/>
            <a:ext cx="3143250" cy="1619250"/>
          </a:xfrm>
          <a:prstGeom prst="rect">
            <a:avLst/>
          </a:prstGeom>
          <a:solidFill>
            <a:srgbClr val="141B20"/>
          </a:solidFill>
          <a:ln w="9525">
            <a:solidFill>
              <a:srgbClr val="2A363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F1C8049-18B4-4F50-97DD-78274E0136CB}"/>
              </a:ext>
            </a:extLst>
          </p:cNvPr>
          <p:cNvSpPr>
            <a:spLocks noGrp="1"/>
          </p:cNvSpPr>
          <p:nvPr/>
        </p:nvSpPr>
        <p:spPr>
          <a:xfrm>
            <a:off x="8115300" y="2628900"/>
            <a:ext cx="66675" cy="1619250"/>
          </a:xfrm>
          <a:prstGeom prst="rect">
            <a:avLst/>
          </a:prstGeom>
          <a:solidFill>
            <a:srgbClr val="FFC766"/>
          </a:solidFill>
          <a:ln w="0">
            <a:solidFill>
              <a:srgbClr val="FFC766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3051A2E-0415-47C4-A37A-DC66B83092BC}"/>
              </a:ext>
            </a:extLst>
          </p:cNvPr>
          <p:cNvSpPr>
            <a:spLocks noGrp="1"/>
          </p:cNvSpPr>
          <p:nvPr/>
        </p:nvSpPr>
        <p:spPr>
          <a:xfrm>
            <a:off x="8324850" y="2819400"/>
            <a:ext cx="2705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>
                <a:solidFill>
                  <a:srgbClr val="EEF5F0"/>
                </a:solidFill>
              </a:defRPr>
            </a:pPr>
            <a:r>
              <a:rPr sz="1800" b="1">
                <a:solidFill>
                  <a:srgbClr val="EEF5F0"/>
                </a:solidFill>
              </a:rPr>
              <a:t>Browser workbench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93A27FD-45C1-4F7F-A271-80C88CCBB06D}"/>
              </a:ext>
            </a:extLst>
          </p:cNvPr>
          <p:cNvSpPr>
            <a:spLocks noGrp="1"/>
          </p:cNvSpPr>
          <p:nvPr/>
        </p:nvSpPr>
        <p:spPr>
          <a:xfrm>
            <a:off x="8324850" y="3238500"/>
            <a:ext cx="270510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A8B4AE"/>
                </a:solidFill>
              </a:defRPr>
            </a:pPr>
            <a:r>
              <a:rPr sz="1350" b="0">
                <a:solidFill>
                  <a:srgbClr val="A8B4AE"/>
                </a:solidFill>
              </a:rPr>
              <a:t>The front end shows waterfall, time view, cursors, zoom, pause/play and artifact previews.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693552D-FD9A-470B-8600-608D16C0232A}"/>
              </a:ext>
            </a:extLst>
          </p:cNvPr>
          <p:cNvSpPr>
            <a:spLocks noGrp="1"/>
          </p:cNvSpPr>
          <p:nvPr/>
        </p:nvSpPr>
        <p:spPr>
          <a:xfrm>
            <a:off x="685800" y="4991100"/>
            <a:ext cx="9525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0">
                <a:solidFill>
                  <a:srgbClr val="A8B4AE"/>
                </a:solidFill>
              </a:defRPr>
            </a:pPr>
            <a:r>
              <a:rPr sz="1800" b="0">
                <a:solidFill>
                  <a:srgbClr val="A8B4AE"/>
                </a:solidFill>
              </a:rPr>
              <a:t>Recordings can still be kept as evidence snapshots, but the primary path should be script-driven and repeatable.</a:t>
            </a:r>
          </a:p>
        </p:txBody>
      </p:sp>
    </p:spTree>
    <p:extLst>
      <p:ext uri="{BB962C8B-B14F-4D97-AF65-F5344CB8AC3E}">
        <p14:creationId xmlns:p14="http://schemas.microsoft.com/office/powerpoint/2010/main" val="18004372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E256176D-9B87-4A31-A3B3-5F14E2D3541D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1">
                <a:solidFill>
                  <a:srgbClr val="59D7E8"/>
                </a:solidFill>
              </a:defRPr>
            </a:pPr>
            <a:r>
              <a:rPr sz="975" b="1">
                <a:solidFill>
                  <a:srgbClr val="59D7E8"/>
                </a:solidFill>
              </a:rPr>
              <a:t>SIGNAL FORGE CTF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7DF0D64-E452-4992-90E1-8A1C5888B3D6}"/>
              </a:ext>
            </a:extLst>
          </p:cNvPr>
          <p:cNvSpPr>
            <a:spLocks noGrp="1"/>
          </p:cNvSpPr>
          <p:nvPr/>
        </p:nvSpPr>
        <p:spPr>
          <a:xfrm>
            <a:off x="10953750" y="6057900"/>
            <a:ext cx="6096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1125" b="0">
                <a:solidFill>
                  <a:srgbClr val="A8B4AE"/>
                </a:solidFill>
              </a:defRPr>
            </a:pPr>
            <a:r>
              <a:rPr sz="1125" b="0">
                <a:solidFill>
                  <a:srgbClr val="A8B4AE"/>
                </a:solidFill>
              </a:rPr>
              <a:t>05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0D9E176-E3ED-41C1-8DB6-0F5968AE293C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91440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000" b="1">
                <a:solidFill>
                  <a:srgbClr val="EEF5F0"/>
                </a:solidFill>
              </a:defRPr>
            </a:pPr>
            <a:r>
              <a:rPr sz="3000" b="1">
                <a:solidFill>
                  <a:srgbClr val="EEF5F0"/>
                </a:solidFill>
              </a:rPr>
              <a:t>The workbench should feel like radio operations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9D25A72-51BA-4D05-A10E-DE8696BD0EF1}"/>
              </a:ext>
            </a:extLst>
          </p:cNvPr>
          <p:cNvSpPr>
            <a:spLocks noGrp="1"/>
          </p:cNvSpPr>
          <p:nvPr/>
        </p:nvSpPr>
        <p:spPr>
          <a:xfrm>
            <a:off x="685800" y="1638300"/>
            <a:ext cx="8953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0">
                <a:solidFill>
                  <a:srgbClr val="A8B4AE"/>
                </a:solidFill>
              </a:defRPr>
            </a:pPr>
            <a:r>
              <a:rPr sz="1575" b="0">
                <a:solidFill>
                  <a:srgbClr val="A8B4AE"/>
                </a:solidFill>
              </a:rPr>
              <a:t>The UI should require simple receiver actions instead of only reading decoded text.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5BAB6A6-7BD8-4B21-A7D7-30A571250D9E}"/>
              </a:ext>
            </a:extLst>
          </p:cNvPr>
          <p:cNvSpPr>
            <a:spLocks noGrp="1"/>
          </p:cNvSpPr>
          <p:nvPr/>
        </p:nvSpPr>
        <p:spPr>
          <a:xfrm>
            <a:off x="685800" y="2476500"/>
            <a:ext cx="4762500" cy="1181100"/>
          </a:xfrm>
          <a:prstGeom prst="rect">
            <a:avLst/>
          </a:prstGeom>
          <a:solidFill>
            <a:srgbClr val="141B20"/>
          </a:solidFill>
          <a:ln w="9525">
            <a:solidFill>
              <a:srgbClr val="2A363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B7C7685-8FB8-44EE-881D-25B57043A095}"/>
              </a:ext>
            </a:extLst>
          </p:cNvPr>
          <p:cNvSpPr>
            <a:spLocks noGrp="1"/>
          </p:cNvSpPr>
          <p:nvPr/>
        </p:nvSpPr>
        <p:spPr>
          <a:xfrm>
            <a:off x="685800" y="2476500"/>
            <a:ext cx="66675" cy="1181100"/>
          </a:xfrm>
          <a:prstGeom prst="rect">
            <a:avLst/>
          </a:prstGeom>
          <a:solidFill>
            <a:srgbClr val="59D7E8"/>
          </a:solidFill>
          <a:ln w="0">
            <a:solidFill>
              <a:srgbClr val="59D7E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C4622A5-53F8-4EB4-9D6E-CB16115B7C5D}"/>
              </a:ext>
            </a:extLst>
          </p:cNvPr>
          <p:cNvSpPr>
            <a:spLocks noGrp="1"/>
          </p:cNvSpPr>
          <p:nvPr/>
        </p:nvSpPr>
        <p:spPr>
          <a:xfrm>
            <a:off x="895350" y="2667000"/>
            <a:ext cx="4324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>
                <a:solidFill>
                  <a:srgbClr val="EEF5F0"/>
                </a:solidFill>
              </a:defRPr>
            </a:pPr>
            <a:r>
              <a:rPr sz="1800" b="1">
                <a:solidFill>
                  <a:srgbClr val="EEF5F0"/>
                </a:solidFill>
              </a:rPr>
              <a:t>Tune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3B3C33C-884C-43D3-ADA4-ABA7A4CBC468}"/>
              </a:ext>
            </a:extLst>
          </p:cNvPr>
          <p:cNvSpPr>
            <a:spLocks noGrp="1"/>
          </p:cNvSpPr>
          <p:nvPr/>
        </p:nvSpPr>
        <p:spPr>
          <a:xfrm>
            <a:off x="895350" y="3086100"/>
            <a:ext cx="43243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A8B4AE"/>
                </a:solidFill>
              </a:defRPr>
            </a:pPr>
            <a:r>
              <a:rPr sz="1350" b="0">
                <a:solidFill>
                  <a:srgbClr val="A8B4AE"/>
                </a:solidFill>
              </a:rPr>
              <a:t>Find the active channel and set RX near the observed signal rather than on a pre-filled exact frequency.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C228483-1B22-4BAC-98F9-E1C8161B3E13}"/>
              </a:ext>
            </a:extLst>
          </p:cNvPr>
          <p:cNvSpPr>
            <a:spLocks noGrp="1"/>
          </p:cNvSpPr>
          <p:nvPr/>
        </p:nvSpPr>
        <p:spPr>
          <a:xfrm>
            <a:off x="6019800" y="2476500"/>
            <a:ext cx="4762500" cy="1181100"/>
          </a:xfrm>
          <a:prstGeom prst="rect">
            <a:avLst/>
          </a:prstGeom>
          <a:solidFill>
            <a:srgbClr val="141B20"/>
          </a:solidFill>
          <a:ln w="9525">
            <a:solidFill>
              <a:srgbClr val="2A363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38961C8-9982-435F-B768-248851466CBE}"/>
              </a:ext>
            </a:extLst>
          </p:cNvPr>
          <p:cNvSpPr>
            <a:spLocks noGrp="1"/>
          </p:cNvSpPr>
          <p:nvPr/>
        </p:nvSpPr>
        <p:spPr>
          <a:xfrm>
            <a:off x="6019800" y="2476500"/>
            <a:ext cx="66675" cy="1181100"/>
          </a:xfrm>
          <a:prstGeom prst="rect">
            <a:avLst/>
          </a:prstGeom>
          <a:solidFill>
            <a:srgbClr val="73F2A6"/>
          </a:solidFill>
          <a:ln w="0">
            <a:solidFill>
              <a:srgbClr val="73F2A6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C70F0B6-2EBA-4CAF-BB4C-1F98FE5F725D}"/>
              </a:ext>
            </a:extLst>
          </p:cNvPr>
          <p:cNvSpPr>
            <a:spLocks noGrp="1"/>
          </p:cNvSpPr>
          <p:nvPr/>
        </p:nvSpPr>
        <p:spPr>
          <a:xfrm>
            <a:off x="6229350" y="2667000"/>
            <a:ext cx="4324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>
                <a:solidFill>
                  <a:srgbClr val="EEF5F0"/>
                </a:solidFill>
              </a:defRPr>
            </a:pPr>
            <a:r>
              <a:rPr sz="1800" b="1">
                <a:solidFill>
                  <a:srgbClr val="EEF5F0"/>
                </a:solidFill>
              </a:rPr>
              <a:t>Measure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36713B9-4C54-42CD-A6C1-ECF8CF8EDB0C}"/>
              </a:ext>
            </a:extLst>
          </p:cNvPr>
          <p:cNvSpPr>
            <a:spLocks noGrp="1"/>
          </p:cNvSpPr>
          <p:nvPr/>
        </p:nvSpPr>
        <p:spPr>
          <a:xfrm>
            <a:off x="6229350" y="3086100"/>
            <a:ext cx="43243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A8B4AE"/>
                </a:solidFill>
              </a:defRPr>
            </a:pPr>
            <a:r>
              <a:rPr sz="1350" b="0">
                <a:solidFill>
                  <a:srgbClr val="A8B4AE"/>
                </a:solidFill>
              </a:rPr>
              <a:t>Use cursors to estimate burst period, bandwidth, symbol spacing and effects from interference.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E2D8167-0D9C-47DB-B240-CCC5017839BC}"/>
              </a:ext>
            </a:extLst>
          </p:cNvPr>
          <p:cNvSpPr>
            <a:spLocks noGrp="1"/>
          </p:cNvSpPr>
          <p:nvPr/>
        </p:nvSpPr>
        <p:spPr>
          <a:xfrm>
            <a:off x="685800" y="4114800"/>
            <a:ext cx="4762500" cy="1181100"/>
          </a:xfrm>
          <a:prstGeom prst="rect">
            <a:avLst/>
          </a:prstGeom>
          <a:solidFill>
            <a:srgbClr val="141B20"/>
          </a:solidFill>
          <a:ln w="9525">
            <a:solidFill>
              <a:srgbClr val="2A363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39202C0-FF5F-4565-B789-E46980081172}"/>
              </a:ext>
            </a:extLst>
          </p:cNvPr>
          <p:cNvSpPr>
            <a:spLocks noGrp="1"/>
          </p:cNvSpPr>
          <p:nvPr/>
        </p:nvSpPr>
        <p:spPr>
          <a:xfrm>
            <a:off x="685800" y="4114800"/>
            <a:ext cx="66675" cy="1181100"/>
          </a:xfrm>
          <a:prstGeom prst="rect">
            <a:avLst/>
          </a:prstGeom>
          <a:solidFill>
            <a:srgbClr val="FFC766"/>
          </a:solidFill>
          <a:ln w="0">
            <a:solidFill>
              <a:srgbClr val="FFC766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B65B5D4-3ED7-4B43-A1A5-9C0751704DAA}"/>
              </a:ext>
            </a:extLst>
          </p:cNvPr>
          <p:cNvSpPr>
            <a:spLocks noGrp="1"/>
          </p:cNvSpPr>
          <p:nvPr/>
        </p:nvSpPr>
        <p:spPr>
          <a:xfrm>
            <a:off x="895350" y="4305300"/>
            <a:ext cx="4324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>
                <a:solidFill>
                  <a:srgbClr val="EEF5F0"/>
                </a:solidFill>
              </a:defRPr>
            </a:pPr>
            <a:r>
              <a:rPr sz="1800" b="1">
                <a:solidFill>
                  <a:srgbClr val="EEF5F0"/>
                </a:solidFill>
              </a:rPr>
              <a:t>Test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977B2C3-CD80-4C91-8870-1CA185796508}"/>
              </a:ext>
            </a:extLst>
          </p:cNvPr>
          <p:cNvSpPr>
            <a:spLocks noGrp="1"/>
          </p:cNvSpPr>
          <p:nvPr/>
        </p:nvSpPr>
        <p:spPr>
          <a:xfrm>
            <a:off x="895350" y="4724400"/>
            <a:ext cx="43243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A8B4AE"/>
                </a:solidFill>
              </a:defRPr>
            </a:pPr>
            <a:r>
              <a:rPr sz="1350" b="0">
                <a:solidFill>
                  <a:srgbClr val="A8B4AE"/>
                </a:solidFill>
              </a:rPr>
              <a:t>Inject, jam or replay through controlled local inputs and watch confidence or bit errors move.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F983238-1E6F-4C20-BF06-42800B465E24}"/>
              </a:ext>
            </a:extLst>
          </p:cNvPr>
          <p:cNvSpPr>
            <a:spLocks noGrp="1"/>
          </p:cNvSpPr>
          <p:nvPr/>
        </p:nvSpPr>
        <p:spPr>
          <a:xfrm>
            <a:off x="6019800" y="4114800"/>
            <a:ext cx="4762500" cy="1181100"/>
          </a:xfrm>
          <a:prstGeom prst="rect">
            <a:avLst/>
          </a:prstGeom>
          <a:solidFill>
            <a:srgbClr val="141B20"/>
          </a:solidFill>
          <a:ln w="9525">
            <a:solidFill>
              <a:srgbClr val="2A363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2BA90EC-298B-4009-9871-3147315EBC82}"/>
              </a:ext>
            </a:extLst>
          </p:cNvPr>
          <p:cNvSpPr>
            <a:spLocks noGrp="1"/>
          </p:cNvSpPr>
          <p:nvPr/>
        </p:nvSpPr>
        <p:spPr>
          <a:xfrm>
            <a:off x="6019800" y="4114800"/>
            <a:ext cx="66675" cy="1181100"/>
          </a:xfrm>
          <a:prstGeom prst="rect">
            <a:avLst/>
          </a:prstGeom>
          <a:solidFill>
            <a:srgbClr val="FF6B6B"/>
          </a:solidFill>
          <a:ln w="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DF4C735-35A7-420F-BC05-7754A1BFAD79}"/>
              </a:ext>
            </a:extLst>
          </p:cNvPr>
          <p:cNvSpPr>
            <a:spLocks noGrp="1"/>
          </p:cNvSpPr>
          <p:nvPr/>
        </p:nvSpPr>
        <p:spPr>
          <a:xfrm>
            <a:off x="6229350" y="4305300"/>
            <a:ext cx="4324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>
                <a:solidFill>
                  <a:srgbClr val="EEF5F0"/>
                </a:solidFill>
              </a:defRPr>
            </a:pPr>
            <a:r>
              <a:rPr sz="1800" b="1">
                <a:solidFill>
                  <a:srgbClr val="EEF5F0"/>
                </a:solidFill>
              </a:rPr>
              <a:t>Submit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F8C9DF2-8E98-4813-B427-E8640BD71B87}"/>
              </a:ext>
            </a:extLst>
          </p:cNvPr>
          <p:cNvSpPr>
            <a:spLocks noGrp="1"/>
          </p:cNvSpPr>
          <p:nvPr/>
        </p:nvSpPr>
        <p:spPr>
          <a:xfrm>
            <a:off x="6229350" y="4724400"/>
            <a:ext cx="43243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A8B4AE"/>
                </a:solidFill>
              </a:defRPr>
            </a:pPr>
            <a:r>
              <a:rPr sz="1350" b="0">
                <a:solidFill>
                  <a:srgbClr val="A8B4AE"/>
                </a:solidFill>
              </a:rPr>
              <a:t>Use the recovered operational data to drive backend, parser or firmware subtasks.</a:t>
            </a:r>
          </a:p>
        </p:txBody>
      </p:sp>
    </p:spTree>
    <p:extLst>
      <p:ext uri="{BB962C8B-B14F-4D97-AF65-F5344CB8AC3E}">
        <p14:creationId xmlns:p14="http://schemas.microsoft.com/office/powerpoint/2010/main" val="8240302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39">
            <a:extLst>
              <a:ext uri="{FF2B5EF4-FFF2-40B4-BE49-F238E27FC236}">
                <a16:creationId xmlns:a16="http://schemas.microsoft.com/office/drawing/2014/main" id="{F0B533EA-99D3-49E7-B971-A84DC131EE87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1">
                <a:solidFill>
                  <a:srgbClr val="59D7E8"/>
                </a:solidFill>
              </a:defRPr>
            </a:pPr>
            <a:r>
              <a:rPr sz="975" b="1">
                <a:solidFill>
                  <a:srgbClr val="59D7E8"/>
                </a:solidFill>
              </a:rPr>
              <a:t>SIGNAL FORGE CTF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7FB3BA3-C647-4C6A-9B6B-56DDDAF8F018}"/>
              </a:ext>
            </a:extLst>
          </p:cNvPr>
          <p:cNvSpPr>
            <a:spLocks noGrp="1"/>
          </p:cNvSpPr>
          <p:nvPr/>
        </p:nvSpPr>
        <p:spPr>
          <a:xfrm>
            <a:off x="10953750" y="6057900"/>
            <a:ext cx="6096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1125" b="0">
                <a:solidFill>
                  <a:srgbClr val="A8B4AE"/>
                </a:solidFill>
              </a:defRPr>
            </a:pPr>
            <a:r>
              <a:rPr sz="1125" b="0">
                <a:solidFill>
                  <a:srgbClr val="A8B4AE"/>
                </a:solidFill>
              </a:rPr>
              <a:t>06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B78498A-BF39-40F1-A01F-13216CD3F745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91440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000" b="1">
                <a:solidFill>
                  <a:srgbClr val="EEF5F0"/>
                </a:solidFill>
              </a:defRPr>
            </a:pPr>
            <a:r>
              <a:rPr sz="3000" b="1">
                <a:solidFill>
                  <a:srgbClr val="EEF5F0"/>
                </a:solidFill>
              </a:rPr>
              <a:t>Current contexts cover the beginner-to-advanced ladder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A5CACC9-4E65-4D31-AFA2-63E0FFA8EBFE}"/>
              </a:ext>
            </a:extLst>
          </p:cNvPr>
          <p:cNvSpPr>
            <a:spLocks noGrp="1"/>
          </p:cNvSpPr>
          <p:nvPr/>
        </p:nvSpPr>
        <p:spPr>
          <a:xfrm>
            <a:off x="685800" y="1638300"/>
            <a:ext cx="8953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0">
                <a:solidFill>
                  <a:srgbClr val="A8B4AE"/>
                </a:solidFill>
              </a:defRPr>
            </a:pPr>
            <a:r>
              <a:rPr sz="1575" b="0">
                <a:solidFill>
                  <a:srgbClr val="A8B4AE"/>
                </a:solidFill>
              </a:rPr>
              <a:t>The structure is already in place; the next pass is making each signal scheme distinct and more realistic.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BA31B3E-C3F4-41AC-9974-B02EEF32E7FD}"/>
              </a:ext>
            </a:extLst>
          </p:cNvPr>
          <p:cNvSpPr>
            <a:spLocks noGrp="1"/>
          </p:cNvSpPr>
          <p:nvPr/>
        </p:nvSpPr>
        <p:spPr>
          <a:xfrm>
            <a:off x="685800" y="2419350"/>
            <a:ext cx="10096500" cy="457200"/>
          </a:xfrm>
          <a:prstGeom prst="rect">
            <a:avLst/>
          </a:prstGeom>
          <a:solidFill>
            <a:srgbClr val="1D2528"/>
          </a:solidFill>
          <a:ln w="9525">
            <a:solidFill>
              <a:srgbClr val="2A363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5085B22-9E67-46F5-BBE0-A6217B612368}"/>
              </a:ext>
            </a:extLst>
          </p:cNvPr>
          <p:cNvSpPr>
            <a:spLocks noGrp="1"/>
          </p:cNvSpPr>
          <p:nvPr/>
        </p:nvSpPr>
        <p:spPr>
          <a:xfrm>
            <a:off x="857250" y="2552700"/>
            <a:ext cx="3714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>
                <a:solidFill>
                  <a:srgbClr val="EEF5F0"/>
                </a:solidFill>
              </a:defRPr>
            </a:pPr>
            <a:r>
              <a:rPr sz="1350" b="1">
                <a:solidFill>
                  <a:srgbClr val="EEF5F0"/>
                </a:solidFill>
              </a:rPr>
              <a:t>Context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45E1294-6C74-4E96-B0AC-F77C247BAC94}"/>
              </a:ext>
            </a:extLst>
          </p:cNvPr>
          <p:cNvSpPr>
            <a:spLocks noGrp="1"/>
          </p:cNvSpPr>
          <p:nvPr/>
        </p:nvSpPr>
        <p:spPr>
          <a:xfrm>
            <a:off x="5448300" y="2552700"/>
            <a:ext cx="1333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>
                <a:solidFill>
                  <a:srgbClr val="EEF5F0"/>
                </a:solidFill>
              </a:defRPr>
            </a:pPr>
            <a:r>
              <a:rPr sz="1350" b="1">
                <a:solidFill>
                  <a:srgbClr val="EEF5F0"/>
                </a:solidFill>
              </a:rPr>
              <a:t>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46E34B0-75CD-4B4F-B0AA-235E542E5DD5}"/>
              </a:ext>
            </a:extLst>
          </p:cNvPr>
          <p:cNvSpPr>
            <a:spLocks noGrp="1"/>
          </p:cNvSpPr>
          <p:nvPr/>
        </p:nvSpPr>
        <p:spPr>
          <a:xfrm>
            <a:off x="7162800" y="2552700"/>
            <a:ext cx="1333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>
                <a:solidFill>
                  <a:srgbClr val="EEF5F0"/>
                </a:solidFill>
              </a:defRPr>
            </a:pPr>
            <a:r>
              <a:rPr sz="1350" b="1">
                <a:solidFill>
                  <a:srgbClr val="EEF5F0"/>
                </a:solidFill>
              </a:rPr>
              <a:t>Subtasks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57C1711-BFCE-4DA2-AD51-E13B230BCC44}"/>
              </a:ext>
            </a:extLst>
          </p:cNvPr>
          <p:cNvSpPr>
            <a:spLocks noGrp="1"/>
          </p:cNvSpPr>
          <p:nvPr/>
        </p:nvSpPr>
        <p:spPr>
          <a:xfrm>
            <a:off x="8686800" y="255270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>
                <a:solidFill>
                  <a:srgbClr val="EEF5F0"/>
                </a:solidFill>
              </a:defRPr>
            </a:pPr>
            <a:r>
              <a:rPr sz="1350" b="1">
                <a:solidFill>
                  <a:srgbClr val="EEF5F0"/>
                </a:solidFill>
              </a:rPr>
              <a:t>Focus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3505F87-2F0D-4C4F-9D53-3D2F143C691D}"/>
              </a:ext>
            </a:extLst>
          </p:cNvPr>
          <p:cNvSpPr>
            <a:spLocks noGrp="1"/>
          </p:cNvSpPr>
          <p:nvPr/>
        </p:nvSpPr>
        <p:spPr>
          <a:xfrm>
            <a:off x="685800" y="2876550"/>
            <a:ext cx="10096500" cy="495300"/>
          </a:xfrm>
          <a:prstGeom prst="rect">
            <a:avLst/>
          </a:prstGeom>
          <a:solidFill>
            <a:srgbClr val="10171B"/>
          </a:solidFill>
          <a:ln w="9525">
            <a:solidFill>
              <a:srgbClr val="2A363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816476B-0AD8-4E1B-981B-346E5689D4AB}"/>
              </a:ext>
            </a:extLst>
          </p:cNvPr>
          <p:cNvSpPr>
            <a:spLocks noGrp="1"/>
          </p:cNvSpPr>
          <p:nvPr/>
        </p:nvSpPr>
        <p:spPr>
          <a:xfrm>
            <a:off x="857250" y="3009900"/>
            <a:ext cx="3714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>
                <a:solidFill>
                  <a:srgbClr val="EEF5F0"/>
                </a:solidFill>
              </a:defRPr>
            </a:pPr>
            <a:r>
              <a:rPr sz="1350" b="1">
                <a:solidFill>
                  <a:srgbClr val="EEF5F0"/>
                </a:solidFill>
              </a:rPr>
              <a:t>Tunnel Infrastructure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FBAF624-C339-4B05-896E-85757C562FD0}"/>
              </a:ext>
            </a:extLst>
          </p:cNvPr>
          <p:cNvSpPr>
            <a:spLocks noGrp="1"/>
          </p:cNvSpPr>
          <p:nvPr/>
        </p:nvSpPr>
        <p:spPr>
          <a:xfrm>
            <a:off x="5448300" y="3009900"/>
            <a:ext cx="1333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A8B4AE"/>
                </a:solidFill>
              </a:defRPr>
            </a:pPr>
            <a:r>
              <a:rPr sz="1350" b="0">
                <a:solidFill>
                  <a:srgbClr val="A8B4AE"/>
                </a:solidFill>
              </a:rPr>
              <a:t>Basic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C4CDD26-9193-41F0-827C-3321C1683912}"/>
              </a:ext>
            </a:extLst>
          </p:cNvPr>
          <p:cNvSpPr>
            <a:spLocks noGrp="1"/>
          </p:cNvSpPr>
          <p:nvPr/>
        </p:nvSpPr>
        <p:spPr>
          <a:xfrm>
            <a:off x="7353300" y="3009900"/>
            <a:ext cx="76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73F2A6"/>
                </a:solidFill>
              </a:defRPr>
            </a:pPr>
            <a:r>
              <a:rPr sz="1350" b="0">
                <a:solidFill>
                  <a:srgbClr val="73F2A6"/>
                </a:solidFill>
              </a:rPr>
              <a:t>4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297EBDE-69B8-4E6E-9F8F-F79D290E4763}"/>
              </a:ext>
            </a:extLst>
          </p:cNvPr>
          <p:cNvSpPr>
            <a:spLocks noGrp="1"/>
          </p:cNvSpPr>
          <p:nvPr/>
        </p:nvSpPr>
        <p:spPr>
          <a:xfrm>
            <a:off x="8686800" y="3009900"/>
            <a:ext cx="1809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A8B4AE"/>
                </a:solidFill>
              </a:defRPr>
            </a:pPr>
            <a:r>
              <a:rPr sz="1350" b="0">
                <a:solidFill>
                  <a:srgbClr val="A8B4AE"/>
                </a:solidFill>
              </a:rPr>
              <a:t>signals + cema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9C1286-9069-4B09-903D-1CEDC4E02297}"/>
              </a:ext>
            </a:extLst>
          </p:cNvPr>
          <p:cNvSpPr>
            <a:spLocks noGrp="1"/>
          </p:cNvSpPr>
          <p:nvPr/>
        </p:nvSpPr>
        <p:spPr>
          <a:xfrm>
            <a:off x="685800" y="3371850"/>
            <a:ext cx="10096500" cy="495300"/>
          </a:xfrm>
          <a:prstGeom prst="rect">
            <a:avLst/>
          </a:prstGeom>
          <a:solidFill>
            <a:srgbClr val="0D1316"/>
          </a:solidFill>
          <a:ln w="9525">
            <a:solidFill>
              <a:srgbClr val="2A363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965CC60-41F1-4D76-9FB3-FA6CF5EE5A2E}"/>
              </a:ext>
            </a:extLst>
          </p:cNvPr>
          <p:cNvSpPr>
            <a:spLocks noGrp="1"/>
          </p:cNvSpPr>
          <p:nvPr/>
        </p:nvSpPr>
        <p:spPr>
          <a:xfrm>
            <a:off x="857250" y="3505200"/>
            <a:ext cx="3714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>
                <a:solidFill>
                  <a:srgbClr val="EEF5F0"/>
                </a:solidFill>
              </a:defRPr>
            </a:pPr>
            <a:r>
              <a:rPr sz="1350" b="1">
                <a:solidFill>
                  <a:srgbClr val="EEF5F0"/>
                </a:solidFill>
              </a:rPr>
              <a:t>Song Metadata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3284E9F-4614-4BB2-B940-16298786AA2F}"/>
              </a:ext>
            </a:extLst>
          </p:cNvPr>
          <p:cNvSpPr>
            <a:spLocks noGrp="1"/>
          </p:cNvSpPr>
          <p:nvPr/>
        </p:nvSpPr>
        <p:spPr>
          <a:xfrm>
            <a:off x="5448300" y="3505200"/>
            <a:ext cx="1333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A8B4AE"/>
                </a:solidFill>
              </a:defRPr>
            </a:pPr>
            <a:r>
              <a:rPr sz="1350" b="0">
                <a:solidFill>
                  <a:srgbClr val="A8B4AE"/>
                </a:solidFill>
              </a:rPr>
              <a:t>Basic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A3D9521-756D-484B-9555-E54772CA1582}"/>
              </a:ext>
            </a:extLst>
          </p:cNvPr>
          <p:cNvSpPr>
            <a:spLocks noGrp="1"/>
          </p:cNvSpPr>
          <p:nvPr/>
        </p:nvSpPr>
        <p:spPr>
          <a:xfrm>
            <a:off x="7353300" y="3505200"/>
            <a:ext cx="76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73F2A6"/>
                </a:solidFill>
              </a:defRPr>
            </a:pPr>
            <a:r>
              <a:rPr sz="1350" b="0">
                <a:solidFill>
                  <a:srgbClr val="73F2A6"/>
                </a:solidFill>
              </a:rPr>
              <a:t>4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6FC262E-B4F3-4DD3-AEB7-56B1EC91C584}"/>
              </a:ext>
            </a:extLst>
          </p:cNvPr>
          <p:cNvSpPr>
            <a:spLocks noGrp="1"/>
          </p:cNvSpPr>
          <p:nvPr/>
        </p:nvSpPr>
        <p:spPr>
          <a:xfrm>
            <a:off x="8686800" y="3505200"/>
            <a:ext cx="1809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A8B4AE"/>
                </a:solidFill>
              </a:defRPr>
            </a:pPr>
            <a:r>
              <a:rPr sz="1350" b="0">
                <a:solidFill>
                  <a:srgbClr val="A8B4AE"/>
                </a:solidFill>
              </a:rPr>
              <a:t>signals + cema + cyber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CFDAC14-62CC-4F4D-8A34-09BCEE0CA3A0}"/>
              </a:ext>
            </a:extLst>
          </p:cNvPr>
          <p:cNvSpPr>
            <a:spLocks noGrp="1"/>
          </p:cNvSpPr>
          <p:nvPr/>
        </p:nvSpPr>
        <p:spPr>
          <a:xfrm>
            <a:off x="685800" y="3867150"/>
            <a:ext cx="10096500" cy="495300"/>
          </a:xfrm>
          <a:prstGeom prst="rect">
            <a:avLst/>
          </a:prstGeom>
          <a:solidFill>
            <a:srgbClr val="10171B"/>
          </a:solidFill>
          <a:ln w="9525">
            <a:solidFill>
              <a:srgbClr val="2A363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CE0BD21-B4AE-48FF-98BA-19AC6A419562}"/>
              </a:ext>
            </a:extLst>
          </p:cNvPr>
          <p:cNvSpPr>
            <a:spLocks noGrp="1"/>
          </p:cNvSpPr>
          <p:nvPr/>
        </p:nvSpPr>
        <p:spPr>
          <a:xfrm>
            <a:off x="857250" y="4000500"/>
            <a:ext cx="3714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>
                <a:solidFill>
                  <a:srgbClr val="EEF5F0"/>
                </a:solidFill>
              </a:defRPr>
            </a:pPr>
            <a:r>
              <a:rPr sz="1350" b="1">
                <a:solidFill>
                  <a:srgbClr val="EEF5F0"/>
                </a:solidFill>
              </a:rPr>
              <a:t>Weather Broadcast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BE1B4A7-FFC5-4F47-BCF7-9A28BC4BCB3B}"/>
              </a:ext>
            </a:extLst>
          </p:cNvPr>
          <p:cNvSpPr>
            <a:spLocks noGrp="1"/>
          </p:cNvSpPr>
          <p:nvPr/>
        </p:nvSpPr>
        <p:spPr>
          <a:xfrm>
            <a:off x="5448300" y="4000500"/>
            <a:ext cx="1333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A8B4AE"/>
                </a:solidFill>
              </a:defRPr>
            </a:pPr>
            <a:r>
              <a:rPr sz="1350" b="0">
                <a:solidFill>
                  <a:srgbClr val="A8B4AE"/>
                </a:solidFill>
              </a:rPr>
              <a:t>Moderate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1D2C734-5F61-4C5D-BD0D-3E5C1F105771}"/>
              </a:ext>
            </a:extLst>
          </p:cNvPr>
          <p:cNvSpPr>
            <a:spLocks noGrp="1"/>
          </p:cNvSpPr>
          <p:nvPr/>
        </p:nvSpPr>
        <p:spPr>
          <a:xfrm>
            <a:off x="7353300" y="4000500"/>
            <a:ext cx="76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73F2A6"/>
                </a:solidFill>
              </a:defRPr>
            </a:pPr>
            <a:r>
              <a:rPr sz="1350" b="0">
                <a:solidFill>
                  <a:srgbClr val="73F2A6"/>
                </a:solidFill>
              </a:rPr>
              <a:t>3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2253323-43DD-43BD-BDC1-13E498032863}"/>
              </a:ext>
            </a:extLst>
          </p:cNvPr>
          <p:cNvSpPr>
            <a:spLocks noGrp="1"/>
          </p:cNvSpPr>
          <p:nvPr/>
        </p:nvSpPr>
        <p:spPr>
          <a:xfrm>
            <a:off x="8686800" y="4000500"/>
            <a:ext cx="1809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A8B4AE"/>
                </a:solidFill>
              </a:defRPr>
            </a:pPr>
            <a:r>
              <a:rPr sz="1350" b="0">
                <a:solidFill>
                  <a:srgbClr val="A8B4AE"/>
                </a:solidFill>
              </a:rPr>
              <a:t>signals + cyber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7CB42BF-01FB-4F90-8B2E-52FB700542B0}"/>
              </a:ext>
            </a:extLst>
          </p:cNvPr>
          <p:cNvSpPr>
            <a:spLocks noGrp="1"/>
          </p:cNvSpPr>
          <p:nvPr/>
        </p:nvSpPr>
        <p:spPr>
          <a:xfrm>
            <a:off x="685800" y="4362450"/>
            <a:ext cx="10096500" cy="495300"/>
          </a:xfrm>
          <a:prstGeom prst="rect">
            <a:avLst/>
          </a:prstGeom>
          <a:solidFill>
            <a:srgbClr val="0D1316"/>
          </a:solidFill>
          <a:ln w="9525">
            <a:solidFill>
              <a:srgbClr val="2A363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0F2EC68-FDC2-4A0C-AF5A-158E1007A56F}"/>
              </a:ext>
            </a:extLst>
          </p:cNvPr>
          <p:cNvSpPr>
            <a:spLocks noGrp="1"/>
          </p:cNvSpPr>
          <p:nvPr/>
        </p:nvSpPr>
        <p:spPr>
          <a:xfrm>
            <a:off x="857250" y="4495800"/>
            <a:ext cx="3714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>
                <a:solidFill>
                  <a:srgbClr val="EEF5F0"/>
                </a:solidFill>
              </a:defRPr>
            </a:pPr>
            <a:r>
              <a:rPr sz="1350" b="1">
                <a:solidFill>
                  <a:srgbClr val="EEF5F0"/>
                </a:solidFill>
              </a:rPr>
              <a:t>Civilian Emergency Radio Audio Network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CB08DAC-69DF-4A53-8959-270061A31D57}"/>
              </a:ext>
            </a:extLst>
          </p:cNvPr>
          <p:cNvSpPr>
            <a:spLocks noGrp="1"/>
          </p:cNvSpPr>
          <p:nvPr/>
        </p:nvSpPr>
        <p:spPr>
          <a:xfrm>
            <a:off x="5448300" y="4495800"/>
            <a:ext cx="1333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A8B4AE"/>
                </a:solidFill>
              </a:defRPr>
            </a:pPr>
            <a:r>
              <a:rPr sz="1350" b="0">
                <a:solidFill>
                  <a:srgbClr val="A8B4AE"/>
                </a:solidFill>
              </a:rPr>
              <a:t>Moderate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D8014EB-BFC4-4560-B7D0-1AB6296A9B3E}"/>
              </a:ext>
            </a:extLst>
          </p:cNvPr>
          <p:cNvSpPr>
            <a:spLocks noGrp="1"/>
          </p:cNvSpPr>
          <p:nvPr/>
        </p:nvSpPr>
        <p:spPr>
          <a:xfrm>
            <a:off x="7353300" y="4495800"/>
            <a:ext cx="76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73F2A6"/>
                </a:solidFill>
              </a:defRPr>
            </a:pPr>
            <a:r>
              <a:rPr sz="1350" b="0">
                <a:solidFill>
                  <a:srgbClr val="73F2A6"/>
                </a:solidFill>
              </a:rPr>
              <a:t>3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1C63151-1FBF-45E3-9E8C-CB7D4C279672}"/>
              </a:ext>
            </a:extLst>
          </p:cNvPr>
          <p:cNvSpPr>
            <a:spLocks noGrp="1"/>
          </p:cNvSpPr>
          <p:nvPr/>
        </p:nvSpPr>
        <p:spPr>
          <a:xfrm>
            <a:off x="8686800" y="4495800"/>
            <a:ext cx="1809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A8B4AE"/>
                </a:solidFill>
              </a:defRPr>
            </a:pPr>
            <a:r>
              <a:rPr sz="1350" b="0">
                <a:solidFill>
                  <a:srgbClr val="A8B4AE"/>
                </a:solidFill>
              </a:rPr>
              <a:t>signals + cyber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1750CFD-7B89-44D3-97EB-6DDEAD3075E0}"/>
              </a:ext>
            </a:extLst>
          </p:cNvPr>
          <p:cNvSpPr>
            <a:spLocks noGrp="1"/>
          </p:cNvSpPr>
          <p:nvPr/>
        </p:nvSpPr>
        <p:spPr>
          <a:xfrm>
            <a:off x="685800" y="4857750"/>
            <a:ext cx="10096500" cy="495300"/>
          </a:xfrm>
          <a:prstGeom prst="rect">
            <a:avLst/>
          </a:prstGeom>
          <a:solidFill>
            <a:srgbClr val="10171B"/>
          </a:solidFill>
          <a:ln w="9525">
            <a:solidFill>
              <a:srgbClr val="2A363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D5EDBD0-116C-48D4-810D-01C1F77D7A9F}"/>
              </a:ext>
            </a:extLst>
          </p:cNvPr>
          <p:cNvSpPr>
            <a:spLocks noGrp="1"/>
          </p:cNvSpPr>
          <p:nvPr/>
        </p:nvSpPr>
        <p:spPr>
          <a:xfrm>
            <a:off x="857250" y="4991100"/>
            <a:ext cx="3714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>
                <a:solidFill>
                  <a:srgbClr val="EEF5F0"/>
                </a:solidFill>
              </a:defRPr>
            </a:pPr>
            <a:r>
              <a:rPr sz="1350" b="1">
                <a:solidFill>
                  <a:srgbClr val="EEF5F0"/>
                </a:solidFill>
              </a:rPr>
              <a:t>Bushfire C2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C0217CB-21EF-4CAD-82E0-F347A8C09F44}"/>
              </a:ext>
            </a:extLst>
          </p:cNvPr>
          <p:cNvSpPr>
            <a:spLocks noGrp="1"/>
          </p:cNvSpPr>
          <p:nvPr/>
        </p:nvSpPr>
        <p:spPr>
          <a:xfrm>
            <a:off x="5448300" y="4991100"/>
            <a:ext cx="1333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FFC766"/>
                </a:solidFill>
              </a:defRPr>
            </a:pPr>
            <a:r>
              <a:rPr sz="1350" b="0">
                <a:solidFill>
                  <a:srgbClr val="FFC766"/>
                </a:solidFill>
              </a:rPr>
              <a:t>Advanced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39D4317-4972-4C58-A98A-56BE1E4A40F1}"/>
              </a:ext>
            </a:extLst>
          </p:cNvPr>
          <p:cNvSpPr>
            <a:spLocks noGrp="1"/>
          </p:cNvSpPr>
          <p:nvPr/>
        </p:nvSpPr>
        <p:spPr>
          <a:xfrm>
            <a:off x="7353300" y="4991100"/>
            <a:ext cx="76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73F2A6"/>
                </a:solidFill>
              </a:defRPr>
            </a:pPr>
            <a:r>
              <a:rPr sz="1350" b="0">
                <a:solidFill>
                  <a:srgbClr val="73F2A6"/>
                </a:solidFill>
              </a:rPr>
              <a:t>4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C38AD22-FA50-45F5-B893-91DA2BE1742E}"/>
              </a:ext>
            </a:extLst>
          </p:cNvPr>
          <p:cNvSpPr>
            <a:spLocks noGrp="1"/>
          </p:cNvSpPr>
          <p:nvPr/>
        </p:nvSpPr>
        <p:spPr>
          <a:xfrm>
            <a:off x="8686800" y="4991100"/>
            <a:ext cx="1809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A8B4AE"/>
                </a:solidFill>
              </a:defRPr>
            </a:pPr>
            <a:r>
              <a:rPr sz="1350" b="0">
                <a:solidFill>
                  <a:srgbClr val="A8B4AE"/>
                </a:solidFill>
              </a:rPr>
              <a:t>cyber + cema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24C2CD3-04F6-45EF-B02D-D9390672AB7B}"/>
              </a:ext>
            </a:extLst>
          </p:cNvPr>
          <p:cNvSpPr>
            <a:spLocks noGrp="1"/>
          </p:cNvSpPr>
          <p:nvPr/>
        </p:nvSpPr>
        <p:spPr>
          <a:xfrm>
            <a:off x="685800" y="5353050"/>
            <a:ext cx="10096500" cy="495300"/>
          </a:xfrm>
          <a:prstGeom prst="rect">
            <a:avLst/>
          </a:prstGeom>
          <a:solidFill>
            <a:srgbClr val="0D1316"/>
          </a:solidFill>
          <a:ln w="9525">
            <a:solidFill>
              <a:srgbClr val="2A363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46FD54F-5284-4243-B67B-0A9947F39C3F}"/>
              </a:ext>
            </a:extLst>
          </p:cNvPr>
          <p:cNvSpPr>
            <a:spLocks noGrp="1"/>
          </p:cNvSpPr>
          <p:nvPr/>
        </p:nvSpPr>
        <p:spPr>
          <a:xfrm>
            <a:off x="857250" y="5486400"/>
            <a:ext cx="3714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>
                <a:solidFill>
                  <a:srgbClr val="EEF5F0"/>
                </a:solidFill>
              </a:defRPr>
            </a:pPr>
            <a:r>
              <a:rPr sz="1350" b="1">
                <a:solidFill>
                  <a:srgbClr val="EEF5F0"/>
                </a:solidFill>
              </a:rPr>
              <a:t>Farm Gates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74B40B0-0124-4588-B407-A22E77364CC9}"/>
              </a:ext>
            </a:extLst>
          </p:cNvPr>
          <p:cNvSpPr>
            <a:spLocks noGrp="1"/>
          </p:cNvSpPr>
          <p:nvPr/>
        </p:nvSpPr>
        <p:spPr>
          <a:xfrm>
            <a:off x="5448300" y="5486400"/>
            <a:ext cx="1333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FFC766"/>
                </a:solidFill>
              </a:defRPr>
            </a:pPr>
            <a:r>
              <a:rPr sz="1350" b="0">
                <a:solidFill>
                  <a:srgbClr val="FFC766"/>
                </a:solidFill>
              </a:rPr>
              <a:t>Advanced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2E673D20-F970-4F23-8D24-DFA2492F1FAB}"/>
              </a:ext>
            </a:extLst>
          </p:cNvPr>
          <p:cNvSpPr>
            <a:spLocks noGrp="1"/>
          </p:cNvSpPr>
          <p:nvPr/>
        </p:nvSpPr>
        <p:spPr>
          <a:xfrm>
            <a:off x="7353300" y="5486400"/>
            <a:ext cx="76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73F2A6"/>
                </a:solidFill>
              </a:defRPr>
            </a:pPr>
            <a:r>
              <a:rPr sz="1350" b="0">
                <a:solidFill>
                  <a:srgbClr val="73F2A6"/>
                </a:solidFill>
              </a:rPr>
              <a:t>4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DE95ACF2-B45E-4D9A-AF94-C8D6128B01F2}"/>
              </a:ext>
            </a:extLst>
          </p:cNvPr>
          <p:cNvSpPr>
            <a:spLocks noGrp="1"/>
          </p:cNvSpPr>
          <p:nvPr/>
        </p:nvSpPr>
        <p:spPr>
          <a:xfrm>
            <a:off x="8686800" y="5486400"/>
            <a:ext cx="1809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A8B4AE"/>
                </a:solidFill>
              </a:defRPr>
            </a:pPr>
            <a:r>
              <a:rPr sz="1350" b="0">
                <a:solidFill>
                  <a:srgbClr val="A8B4AE"/>
                </a:solidFill>
              </a:rPr>
              <a:t>cyber + cema</a:t>
            </a:r>
          </a:p>
        </p:txBody>
      </p:sp>
    </p:spTree>
    <p:extLst>
      <p:ext uri="{BB962C8B-B14F-4D97-AF65-F5344CB8AC3E}">
        <p14:creationId xmlns:p14="http://schemas.microsoft.com/office/powerpoint/2010/main" val="7522406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59518678-A271-434D-B1D1-93379AE40A3C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1">
                <a:solidFill>
                  <a:srgbClr val="59D7E8"/>
                </a:solidFill>
              </a:defRPr>
            </a:pPr>
            <a:r>
              <a:rPr sz="975" b="1">
                <a:solidFill>
                  <a:srgbClr val="59D7E8"/>
                </a:solidFill>
              </a:rPr>
              <a:t>SIGNAL FORGE CTF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142C469-17A7-40F6-8B53-C3B9451AD61E}"/>
              </a:ext>
            </a:extLst>
          </p:cNvPr>
          <p:cNvSpPr>
            <a:spLocks noGrp="1"/>
          </p:cNvSpPr>
          <p:nvPr/>
        </p:nvSpPr>
        <p:spPr>
          <a:xfrm>
            <a:off x="10953750" y="6057900"/>
            <a:ext cx="6096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1125" b="0">
                <a:solidFill>
                  <a:srgbClr val="A8B4AE"/>
                </a:solidFill>
              </a:defRPr>
            </a:pPr>
            <a:r>
              <a:rPr sz="1125" b="0">
                <a:solidFill>
                  <a:srgbClr val="A8B4AE"/>
                </a:solidFill>
              </a:rPr>
              <a:t>07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02D140D-46A5-406F-BFC6-E78A5A0DE2B3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91440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000" b="1">
                <a:solidFill>
                  <a:srgbClr val="EEF5F0"/>
                </a:solidFill>
              </a:defRPr>
            </a:pPr>
            <a:r>
              <a:rPr sz="3000" b="1">
                <a:solidFill>
                  <a:srgbClr val="EEF5F0"/>
                </a:solidFill>
              </a:rPr>
              <a:t>Cyber content is part of the RF chain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4E63B38-8A41-4983-9A9A-AB75F2BB8506}"/>
              </a:ext>
            </a:extLst>
          </p:cNvPr>
          <p:cNvSpPr>
            <a:spLocks noGrp="1"/>
          </p:cNvSpPr>
          <p:nvPr/>
        </p:nvSpPr>
        <p:spPr>
          <a:xfrm>
            <a:off x="685800" y="1638300"/>
            <a:ext cx="8953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0">
                <a:solidFill>
                  <a:srgbClr val="A8B4AE"/>
                </a:solidFill>
              </a:defRPr>
            </a:pPr>
            <a:r>
              <a:rPr sz="1575" b="0">
                <a:solidFill>
                  <a:srgbClr val="A8B4AE"/>
                </a:solidFill>
              </a:rPr>
              <a:t>The cyber work should arise from decoded telemetry and receiver-side software, not sit as a separate web-only lab.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EEE5A0A1-4B49-4D00-B2CE-7916C3DE5CC8}"/>
              </a:ext>
            </a:extLst>
          </p:cNvPr>
          <p:cNvSpPr>
            <a:spLocks noGrp="1"/>
          </p:cNvSpPr>
          <p:nvPr/>
        </p:nvSpPr>
        <p:spPr>
          <a:xfrm>
            <a:off x="685800" y="2781300"/>
            <a:ext cx="76200" cy="76200"/>
          </a:xfrm>
          <a:prstGeom prst="ellipse">
            <a:avLst/>
          </a:prstGeom>
          <a:solidFill>
            <a:srgbClr val="59D7E8"/>
          </a:solidFill>
          <a:ln w="0">
            <a:solidFill>
              <a:srgbClr val="59D7E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B0031BD-C6E9-4674-9524-4E74AD8D944C}"/>
              </a:ext>
            </a:extLst>
          </p:cNvPr>
          <p:cNvSpPr>
            <a:spLocks noGrp="1"/>
          </p:cNvSpPr>
          <p:nvPr/>
        </p:nvSpPr>
        <p:spPr>
          <a:xfrm>
            <a:off x="933450" y="2686050"/>
            <a:ext cx="8953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 b="0">
                <a:solidFill>
                  <a:srgbClr val="EEF5F0"/>
                </a:solidFill>
              </a:defRPr>
            </a:pPr>
            <a:r>
              <a:rPr sz="1725" b="0">
                <a:solidFill>
                  <a:srgbClr val="EEF5F0"/>
                </a:solidFill>
              </a:rPr>
              <a:t>RF reverse engineering: recover framing, symbols, field order, endian choices and checksums.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AA5985B-6732-4074-B835-45346C6FFDB9}"/>
              </a:ext>
            </a:extLst>
          </p:cNvPr>
          <p:cNvSpPr>
            <a:spLocks noGrp="1"/>
          </p:cNvSpPr>
          <p:nvPr/>
        </p:nvSpPr>
        <p:spPr>
          <a:xfrm>
            <a:off x="685800" y="3486150"/>
            <a:ext cx="76200" cy="76200"/>
          </a:xfrm>
          <a:prstGeom prst="ellipse">
            <a:avLst/>
          </a:prstGeom>
          <a:solidFill>
            <a:srgbClr val="73F2A6"/>
          </a:solidFill>
          <a:ln w="0">
            <a:solidFill>
              <a:srgbClr val="73F2A6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7C0A257-C9E6-4570-944B-E21C30D1B716}"/>
              </a:ext>
            </a:extLst>
          </p:cNvPr>
          <p:cNvSpPr>
            <a:spLocks noGrp="1"/>
          </p:cNvSpPr>
          <p:nvPr/>
        </p:nvSpPr>
        <p:spPr>
          <a:xfrm>
            <a:off x="933450" y="3390900"/>
            <a:ext cx="8953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 b="0">
                <a:solidFill>
                  <a:srgbClr val="EEF5F0"/>
                </a:solidFill>
              </a:defRPr>
            </a:pPr>
            <a:r>
              <a:rPr sz="1725" b="0">
                <a:solidFill>
                  <a:srgbClr val="EEF5F0"/>
                </a:solidFill>
              </a:rPr>
              <a:t>Backend security: validate decoded identifiers, schedule codes and authorization server-side.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4E2305B-7A84-4696-ABF2-B35CFF780910}"/>
              </a:ext>
            </a:extLst>
          </p:cNvPr>
          <p:cNvSpPr>
            <a:spLocks noGrp="1"/>
          </p:cNvSpPr>
          <p:nvPr/>
        </p:nvSpPr>
        <p:spPr>
          <a:xfrm>
            <a:off x="685800" y="4191000"/>
            <a:ext cx="76200" cy="76200"/>
          </a:xfrm>
          <a:prstGeom prst="ellipse">
            <a:avLst/>
          </a:prstGeom>
          <a:solidFill>
            <a:srgbClr val="FFC766"/>
          </a:solidFill>
          <a:ln w="0">
            <a:solidFill>
              <a:srgbClr val="FFC766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C758BCF-F9F8-4613-8EE4-0C20FBC384E0}"/>
              </a:ext>
            </a:extLst>
          </p:cNvPr>
          <p:cNvSpPr>
            <a:spLocks noGrp="1"/>
          </p:cNvSpPr>
          <p:nvPr/>
        </p:nvSpPr>
        <p:spPr>
          <a:xfrm>
            <a:off x="933450" y="4095750"/>
            <a:ext cx="8953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 b="0">
                <a:solidFill>
                  <a:srgbClr val="EEF5F0"/>
                </a:solidFill>
              </a:defRPr>
            </a:pPr>
            <a:r>
              <a:rPr sz="1725" b="0">
                <a:solidFill>
                  <a:srgbClr val="EEF5F0"/>
                </a:solidFill>
              </a:rPr>
              <a:t>Firmware and binary work: reverse local tools, parser states, length handling and unsafe copies.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5A89CCB-FE04-42E7-AE5B-06164C2077C2}"/>
              </a:ext>
            </a:extLst>
          </p:cNvPr>
          <p:cNvSpPr>
            <a:spLocks noGrp="1"/>
          </p:cNvSpPr>
          <p:nvPr/>
        </p:nvSpPr>
        <p:spPr>
          <a:xfrm>
            <a:off x="685800" y="4895850"/>
            <a:ext cx="76200" cy="76200"/>
          </a:xfrm>
          <a:prstGeom prst="ellipse">
            <a:avLst/>
          </a:prstGeom>
          <a:solidFill>
            <a:srgbClr val="FF6B6B"/>
          </a:solidFill>
          <a:ln w="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C244838-13C8-43FA-8683-E0F1F66E6C8B}"/>
              </a:ext>
            </a:extLst>
          </p:cNvPr>
          <p:cNvSpPr>
            <a:spLocks noGrp="1"/>
          </p:cNvSpPr>
          <p:nvPr/>
        </p:nvSpPr>
        <p:spPr>
          <a:xfrm>
            <a:off x="933450" y="4800600"/>
            <a:ext cx="8953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 b="0">
                <a:solidFill>
                  <a:srgbClr val="EEF5F0"/>
                </a:solidFill>
              </a:defRPr>
            </a:pPr>
            <a:r>
              <a:rPr sz="1725" b="0">
                <a:solidFill>
                  <a:srgbClr val="EEF5F0"/>
                </a:solidFill>
              </a:rPr>
              <a:t>Operator effects: later tasks can show how trusted displays, logs and alerts can be manipulated.</a:t>
            </a:r>
          </a:p>
        </p:txBody>
      </p:sp>
    </p:spTree>
    <p:extLst>
      <p:ext uri="{BB962C8B-B14F-4D97-AF65-F5344CB8AC3E}">
        <p14:creationId xmlns:p14="http://schemas.microsoft.com/office/powerpoint/2010/main" val="10256543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A8DBF4D0-0E33-4671-A19C-C9F09396CD17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1">
                <a:solidFill>
                  <a:srgbClr val="59D7E8"/>
                </a:solidFill>
              </a:defRPr>
            </a:pPr>
            <a:r>
              <a:rPr sz="975" b="1">
                <a:solidFill>
                  <a:srgbClr val="59D7E8"/>
                </a:solidFill>
              </a:rPr>
              <a:t>SIGNAL FORGE CTF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B6DFD73-CBCB-4E9D-BB55-CB66F0E80C40}"/>
              </a:ext>
            </a:extLst>
          </p:cNvPr>
          <p:cNvSpPr>
            <a:spLocks noGrp="1"/>
          </p:cNvSpPr>
          <p:nvPr/>
        </p:nvSpPr>
        <p:spPr>
          <a:xfrm>
            <a:off x="10953750" y="6057900"/>
            <a:ext cx="6096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1125" b="0">
                <a:solidFill>
                  <a:srgbClr val="A8B4AE"/>
                </a:solidFill>
              </a:defRPr>
            </a:pPr>
            <a:r>
              <a:rPr sz="1125" b="0">
                <a:solidFill>
                  <a:srgbClr val="A8B4AE"/>
                </a:solidFill>
              </a:rPr>
              <a:t>08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12EC60D-F63C-464A-80FD-921051E38FF8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91440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000" b="1">
                <a:solidFill>
                  <a:srgbClr val="EEF5F0"/>
                </a:solidFill>
              </a:defRPr>
            </a:pPr>
            <a:r>
              <a:rPr sz="3000" b="1">
                <a:solidFill>
                  <a:srgbClr val="EEF5F0"/>
                </a:solidFill>
              </a:rPr>
              <a:t>The advanced lane is research space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F7F5120-5867-4EF7-AFB8-FF05139307D0}"/>
              </a:ext>
            </a:extLst>
          </p:cNvPr>
          <p:cNvSpPr>
            <a:spLocks noGrp="1"/>
          </p:cNvSpPr>
          <p:nvPr/>
        </p:nvSpPr>
        <p:spPr>
          <a:xfrm>
            <a:off x="685800" y="1638300"/>
            <a:ext cx="8953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0">
                <a:solidFill>
                  <a:srgbClr val="A8B4AE"/>
                </a:solidFill>
              </a:defRPr>
            </a:pPr>
            <a:r>
              <a:rPr sz="1575" b="0">
                <a:solidFill>
                  <a:srgbClr val="A8B4AE"/>
                </a:solidFill>
              </a:rPr>
              <a:t>These are the areas to deepen after the basic range is reliable.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EF0B515-15BA-47CA-B6B5-69FA5B29C30F}"/>
              </a:ext>
            </a:extLst>
          </p:cNvPr>
          <p:cNvSpPr>
            <a:spLocks noGrp="1"/>
          </p:cNvSpPr>
          <p:nvPr/>
        </p:nvSpPr>
        <p:spPr>
          <a:xfrm>
            <a:off x="685800" y="2400300"/>
            <a:ext cx="4762500" cy="1123950"/>
          </a:xfrm>
          <a:prstGeom prst="rect">
            <a:avLst/>
          </a:prstGeom>
          <a:solidFill>
            <a:srgbClr val="141B20"/>
          </a:solidFill>
          <a:ln w="9525">
            <a:solidFill>
              <a:srgbClr val="2A363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B01289A-1A1B-464B-ABDB-C5FB05F576AF}"/>
              </a:ext>
            </a:extLst>
          </p:cNvPr>
          <p:cNvSpPr>
            <a:spLocks noGrp="1"/>
          </p:cNvSpPr>
          <p:nvPr/>
        </p:nvSpPr>
        <p:spPr>
          <a:xfrm>
            <a:off x="685800" y="2400300"/>
            <a:ext cx="66675" cy="1123950"/>
          </a:xfrm>
          <a:prstGeom prst="rect">
            <a:avLst/>
          </a:prstGeom>
          <a:solidFill>
            <a:srgbClr val="59D7E8"/>
          </a:solidFill>
          <a:ln w="0">
            <a:solidFill>
              <a:srgbClr val="59D7E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406C448-D7E7-45A8-8E7C-9727D226178D}"/>
              </a:ext>
            </a:extLst>
          </p:cNvPr>
          <p:cNvSpPr>
            <a:spLocks noGrp="1"/>
          </p:cNvSpPr>
          <p:nvPr/>
        </p:nvSpPr>
        <p:spPr>
          <a:xfrm>
            <a:off x="895350" y="2590800"/>
            <a:ext cx="4324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>
                <a:solidFill>
                  <a:srgbClr val="EEF5F0"/>
                </a:solidFill>
              </a:defRPr>
            </a:pPr>
            <a:r>
              <a:rPr sz="1800" b="1">
                <a:solidFill>
                  <a:srgbClr val="EEF5F0"/>
                </a:solidFill>
              </a:rPr>
              <a:t>Propagation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48D84AE-FA71-4155-B25B-93313D9FBDDA}"/>
              </a:ext>
            </a:extLst>
          </p:cNvPr>
          <p:cNvSpPr>
            <a:spLocks noGrp="1"/>
          </p:cNvSpPr>
          <p:nvPr/>
        </p:nvSpPr>
        <p:spPr>
          <a:xfrm>
            <a:off x="895350" y="3009900"/>
            <a:ext cx="4324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A8B4AE"/>
                </a:solidFill>
              </a:defRPr>
            </a:pPr>
            <a:r>
              <a:rPr sz="1350" b="0">
                <a:solidFill>
                  <a:srgbClr val="A8B4AE"/>
                </a:solidFill>
              </a:rPr>
              <a:t>Fading, Doppler, multipath, receiver dynamic range and adjacent-channel effects.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D7FE40C-FC73-4F88-B040-D6459E7A9F9F}"/>
              </a:ext>
            </a:extLst>
          </p:cNvPr>
          <p:cNvSpPr>
            <a:spLocks noGrp="1"/>
          </p:cNvSpPr>
          <p:nvPr/>
        </p:nvSpPr>
        <p:spPr>
          <a:xfrm>
            <a:off x="6019800" y="2400300"/>
            <a:ext cx="4762500" cy="1123950"/>
          </a:xfrm>
          <a:prstGeom prst="rect">
            <a:avLst/>
          </a:prstGeom>
          <a:solidFill>
            <a:srgbClr val="141B20"/>
          </a:solidFill>
          <a:ln w="9525">
            <a:solidFill>
              <a:srgbClr val="2A363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17BE27B-37BC-46D3-8A4C-3C2EC4225E8F}"/>
              </a:ext>
            </a:extLst>
          </p:cNvPr>
          <p:cNvSpPr>
            <a:spLocks noGrp="1"/>
          </p:cNvSpPr>
          <p:nvPr/>
        </p:nvSpPr>
        <p:spPr>
          <a:xfrm>
            <a:off x="6019800" y="2400300"/>
            <a:ext cx="66675" cy="1123950"/>
          </a:xfrm>
          <a:prstGeom prst="rect">
            <a:avLst/>
          </a:prstGeom>
          <a:solidFill>
            <a:srgbClr val="FF6B6B"/>
          </a:solidFill>
          <a:ln w="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7D2AE61-450A-4BFA-8227-EC2260195278}"/>
              </a:ext>
            </a:extLst>
          </p:cNvPr>
          <p:cNvSpPr>
            <a:spLocks noGrp="1"/>
          </p:cNvSpPr>
          <p:nvPr/>
        </p:nvSpPr>
        <p:spPr>
          <a:xfrm>
            <a:off x="6229350" y="2590800"/>
            <a:ext cx="4324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>
                <a:solidFill>
                  <a:srgbClr val="EEF5F0"/>
                </a:solidFill>
              </a:defRPr>
            </a:pPr>
            <a:r>
              <a:rPr sz="1800" b="1">
                <a:solidFill>
                  <a:srgbClr val="EEF5F0"/>
                </a:solidFill>
              </a:rPr>
              <a:t>Jamming and deception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9CB806B-2F0B-4498-B722-F2A49DCC7978}"/>
              </a:ext>
            </a:extLst>
          </p:cNvPr>
          <p:cNvSpPr>
            <a:spLocks noGrp="1"/>
          </p:cNvSpPr>
          <p:nvPr/>
        </p:nvSpPr>
        <p:spPr>
          <a:xfrm>
            <a:off x="6229350" y="3009900"/>
            <a:ext cx="4324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A8B4AE"/>
                </a:solidFill>
              </a:defRPr>
            </a:pPr>
            <a:r>
              <a:rPr sz="1350" b="0">
                <a:solidFill>
                  <a:srgbClr val="A8B4AE"/>
                </a:solidFill>
              </a:rPr>
              <a:t>Spot, sweep, follower, replay, spoofing and protocol-aware interference.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AC00307-3B7F-4A95-8249-9B30C0C89B55}"/>
              </a:ext>
            </a:extLst>
          </p:cNvPr>
          <p:cNvSpPr>
            <a:spLocks noGrp="1"/>
          </p:cNvSpPr>
          <p:nvPr/>
        </p:nvSpPr>
        <p:spPr>
          <a:xfrm>
            <a:off x="685800" y="3962400"/>
            <a:ext cx="4762500" cy="1123950"/>
          </a:xfrm>
          <a:prstGeom prst="rect">
            <a:avLst/>
          </a:prstGeom>
          <a:solidFill>
            <a:srgbClr val="141B20"/>
          </a:solidFill>
          <a:ln w="9525">
            <a:solidFill>
              <a:srgbClr val="2A363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6B0325E-1E3B-42DB-9706-69398CADA2E1}"/>
              </a:ext>
            </a:extLst>
          </p:cNvPr>
          <p:cNvSpPr>
            <a:spLocks noGrp="1"/>
          </p:cNvSpPr>
          <p:nvPr/>
        </p:nvSpPr>
        <p:spPr>
          <a:xfrm>
            <a:off x="685800" y="3962400"/>
            <a:ext cx="66675" cy="1123950"/>
          </a:xfrm>
          <a:prstGeom prst="rect">
            <a:avLst/>
          </a:prstGeom>
          <a:solidFill>
            <a:srgbClr val="FFC766"/>
          </a:solidFill>
          <a:ln w="0">
            <a:solidFill>
              <a:srgbClr val="FFC766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1C34DC4-48E3-4A50-9374-CF93892FA04B}"/>
              </a:ext>
            </a:extLst>
          </p:cNvPr>
          <p:cNvSpPr>
            <a:spLocks noGrp="1"/>
          </p:cNvSpPr>
          <p:nvPr/>
        </p:nvSpPr>
        <p:spPr>
          <a:xfrm>
            <a:off x="895350" y="4152900"/>
            <a:ext cx="4324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>
                <a:solidFill>
                  <a:srgbClr val="EEF5F0"/>
                </a:solidFill>
              </a:defRPr>
            </a:pPr>
            <a:r>
              <a:rPr sz="1800" b="1">
                <a:solidFill>
                  <a:srgbClr val="EEF5F0"/>
                </a:solidFill>
              </a:rPr>
              <a:t>Hardware trust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3892B5D-C867-489D-8A4E-F66893F922D8}"/>
              </a:ext>
            </a:extLst>
          </p:cNvPr>
          <p:cNvSpPr>
            <a:spLocks noGrp="1"/>
          </p:cNvSpPr>
          <p:nvPr/>
        </p:nvSpPr>
        <p:spPr>
          <a:xfrm>
            <a:off x="895350" y="4572000"/>
            <a:ext cx="4324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A8B4AE"/>
                </a:solidFill>
              </a:defRPr>
            </a:pPr>
            <a:r>
              <a:rPr sz="1350" b="0">
                <a:solidFill>
                  <a:srgbClr val="A8B4AE"/>
                </a:solidFill>
              </a:rPr>
              <a:t>Secure boot, signed firmware, HDL review, side-channel thinking and key handling.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2153B4B-105F-4BC3-82B3-D515CA9721F6}"/>
              </a:ext>
            </a:extLst>
          </p:cNvPr>
          <p:cNvSpPr>
            <a:spLocks noGrp="1"/>
          </p:cNvSpPr>
          <p:nvPr/>
        </p:nvSpPr>
        <p:spPr>
          <a:xfrm>
            <a:off x="6019800" y="3962400"/>
            <a:ext cx="4762500" cy="1123950"/>
          </a:xfrm>
          <a:prstGeom prst="rect">
            <a:avLst/>
          </a:prstGeom>
          <a:solidFill>
            <a:srgbClr val="141B20"/>
          </a:solidFill>
          <a:ln w="9525">
            <a:solidFill>
              <a:srgbClr val="2A363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AD95E71-9C6F-4CCF-9A5F-5AD4AF2A324B}"/>
              </a:ext>
            </a:extLst>
          </p:cNvPr>
          <p:cNvSpPr>
            <a:spLocks noGrp="1"/>
          </p:cNvSpPr>
          <p:nvPr/>
        </p:nvSpPr>
        <p:spPr>
          <a:xfrm>
            <a:off x="6019800" y="3962400"/>
            <a:ext cx="66675" cy="1123950"/>
          </a:xfrm>
          <a:prstGeom prst="rect">
            <a:avLst/>
          </a:prstGeom>
          <a:solidFill>
            <a:srgbClr val="73F2A6"/>
          </a:solidFill>
          <a:ln w="0">
            <a:solidFill>
              <a:srgbClr val="73F2A6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D8335F5-3A18-4F8A-8836-1E6D541435B0}"/>
              </a:ext>
            </a:extLst>
          </p:cNvPr>
          <p:cNvSpPr>
            <a:spLocks noGrp="1"/>
          </p:cNvSpPr>
          <p:nvPr/>
        </p:nvSpPr>
        <p:spPr>
          <a:xfrm>
            <a:off x="6229350" y="4152900"/>
            <a:ext cx="4324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>
                <a:solidFill>
                  <a:srgbClr val="EEF5F0"/>
                </a:solidFill>
              </a:defRPr>
            </a:pPr>
            <a:r>
              <a:rPr sz="1800" b="1">
                <a:solidFill>
                  <a:srgbClr val="EEF5F0"/>
                </a:solidFill>
              </a:rPr>
              <a:t>Detection fusion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A465AB4-D1F8-4091-9CF8-CDE75EE357E8}"/>
              </a:ext>
            </a:extLst>
          </p:cNvPr>
          <p:cNvSpPr>
            <a:spLocks noGrp="1"/>
          </p:cNvSpPr>
          <p:nvPr/>
        </p:nvSpPr>
        <p:spPr>
          <a:xfrm>
            <a:off x="6229350" y="4572000"/>
            <a:ext cx="4324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A8B4AE"/>
                </a:solidFill>
              </a:defRPr>
            </a:pPr>
            <a:r>
              <a:rPr sz="1350" b="0">
                <a:solidFill>
                  <a:srgbClr val="A8B4AE"/>
                </a:solidFill>
              </a:rPr>
              <a:t>Correlate RF features, packet state, backend logs, timing and operator actions.</a:t>
            </a:r>
          </a:p>
        </p:txBody>
      </p:sp>
    </p:spTree>
    <p:extLst>
      <p:ext uri="{BB962C8B-B14F-4D97-AF65-F5344CB8AC3E}">
        <p14:creationId xmlns:p14="http://schemas.microsoft.com/office/powerpoint/2010/main" val="7990895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D0DFB00D-BAD8-4E24-A047-1421325FAE29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1">
                <a:solidFill>
                  <a:srgbClr val="59D7E8"/>
                </a:solidFill>
              </a:defRPr>
            </a:pPr>
            <a:r>
              <a:rPr sz="975" b="1">
                <a:solidFill>
                  <a:srgbClr val="59D7E8"/>
                </a:solidFill>
              </a:rPr>
              <a:t>SIGNAL FORGE CTF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04D0ADF-46E4-473A-944A-6970BD3D1312}"/>
              </a:ext>
            </a:extLst>
          </p:cNvPr>
          <p:cNvSpPr>
            <a:spLocks noGrp="1"/>
          </p:cNvSpPr>
          <p:nvPr/>
        </p:nvSpPr>
        <p:spPr>
          <a:xfrm>
            <a:off x="10953750" y="6057900"/>
            <a:ext cx="6096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1125" b="0">
                <a:solidFill>
                  <a:srgbClr val="A8B4AE"/>
                </a:solidFill>
              </a:defRPr>
            </a:pPr>
            <a:r>
              <a:rPr sz="1125" b="0">
                <a:solidFill>
                  <a:srgbClr val="A8B4AE"/>
                </a:solidFill>
              </a:rPr>
              <a:t>09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8272B4A-C618-496D-9BCE-6C0A80F601FA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91440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000" b="1">
                <a:solidFill>
                  <a:srgbClr val="EEF5F0"/>
                </a:solidFill>
              </a:defRPr>
            </a:pPr>
            <a:r>
              <a:rPr sz="3000" b="1">
                <a:solidFill>
                  <a:srgbClr val="EEF5F0"/>
                </a:solidFill>
              </a:rPr>
              <a:t>Evidence needs to match the assessment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8195CDF-70D4-440E-8C0F-035F8275B685}"/>
              </a:ext>
            </a:extLst>
          </p:cNvPr>
          <p:cNvSpPr>
            <a:spLocks noGrp="1"/>
          </p:cNvSpPr>
          <p:nvPr/>
        </p:nvSpPr>
        <p:spPr>
          <a:xfrm>
            <a:off x="685800" y="1638300"/>
            <a:ext cx="8953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0">
                <a:solidFill>
                  <a:srgbClr val="A8B4AE"/>
                </a:solidFill>
              </a:defRPr>
            </a:pPr>
            <a:r>
              <a:rPr sz="1575" b="0">
                <a:solidFill>
                  <a:srgbClr val="A8B4AE"/>
                </a:solidFill>
              </a:rPr>
              <a:t>The project should show what was built, how it is tested, and how each subtask can be solved locally.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AE1838C-030E-495C-9A3D-DB75A2357313}"/>
              </a:ext>
            </a:extLst>
          </p:cNvPr>
          <p:cNvSpPr>
            <a:spLocks noGrp="1"/>
          </p:cNvSpPr>
          <p:nvPr/>
        </p:nvSpPr>
        <p:spPr>
          <a:xfrm>
            <a:off x="685800" y="2476500"/>
            <a:ext cx="4762500" cy="1447800"/>
          </a:xfrm>
          <a:prstGeom prst="rect">
            <a:avLst/>
          </a:prstGeom>
          <a:solidFill>
            <a:srgbClr val="141B20"/>
          </a:solidFill>
          <a:ln w="9525">
            <a:solidFill>
              <a:srgbClr val="2A363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0EF7AB0-F1BB-45E3-8F2D-8228DD599A2E}"/>
              </a:ext>
            </a:extLst>
          </p:cNvPr>
          <p:cNvSpPr>
            <a:spLocks noGrp="1"/>
          </p:cNvSpPr>
          <p:nvPr/>
        </p:nvSpPr>
        <p:spPr>
          <a:xfrm>
            <a:off x="685800" y="2476500"/>
            <a:ext cx="66675" cy="1447800"/>
          </a:xfrm>
          <a:prstGeom prst="rect">
            <a:avLst/>
          </a:prstGeom>
          <a:solidFill>
            <a:srgbClr val="59D7E8"/>
          </a:solidFill>
          <a:ln w="0">
            <a:solidFill>
              <a:srgbClr val="59D7E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E8118F9-2A3D-4930-A083-58B2566974E3}"/>
              </a:ext>
            </a:extLst>
          </p:cNvPr>
          <p:cNvSpPr>
            <a:spLocks noGrp="1"/>
          </p:cNvSpPr>
          <p:nvPr/>
        </p:nvSpPr>
        <p:spPr>
          <a:xfrm>
            <a:off x="895350" y="2667000"/>
            <a:ext cx="4324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>
                <a:solidFill>
                  <a:srgbClr val="EEF5F0"/>
                </a:solidFill>
              </a:defRPr>
            </a:pPr>
            <a:r>
              <a:rPr sz="1800" b="1">
                <a:solidFill>
                  <a:srgbClr val="EEF5F0"/>
                </a:solidFill>
              </a:rPr>
              <a:t>Requirement evidence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5232B14-B2D5-4A67-8D64-3CFC86E413BB}"/>
              </a:ext>
            </a:extLst>
          </p:cNvPr>
          <p:cNvSpPr>
            <a:spLocks noGrp="1"/>
          </p:cNvSpPr>
          <p:nvPr/>
        </p:nvSpPr>
        <p:spPr>
          <a:xfrm>
            <a:off x="895350" y="3086100"/>
            <a:ext cx="43243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A8B4AE"/>
                </a:solidFill>
              </a:defRPr>
            </a:pPr>
            <a:r>
              <a:rPr sz="1350" b="0">
                <a:solidFill>
                  <a:srgbClr val="A8B4AE"/>
                </a:solidFill>
              </a:rPr>
              <a:t>Spreadsheet rows map each subtask to a goal, expected user action, flag location and verification method.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60F52EA-88A0-43E5-9867-70A192E5DF33}"/>
              </a:ext>
            </a:extLst>
          </p:cNvPr>
          <p:cNvSpPr>
            <a:spLocks noGrp="1"/>
          </p:cNvSpPr>
          <p:nvPr/>
        </p:nvSpPr>
        <p:spPr>
          <a:xfrm>
            <a:off x="6019800" y="2476500"/>
            <a:ext cx="4762500" cy="1447800"/>
          </a:xfrm>
          <a:prstGeom prst="rect">
            <a:avLst/>
          </a:prstGeom>
          <a:solidFill>
            <a:srgbClr val="141B20"/>
          </a:solidFill>
          <a:ln w="9525">
            <a:solidFill>
              <a:srgbClr val="2A363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615A1C4-8D7D-4D14-8F20-65948508FA40}"/>
              </a:ext>
            </a:extLst>
          </p:cNvPr>
          <p:cNvSpPr>
            <a:spLocks noGrp="1"/>
          </p:cNvSpPr>
          <p:nvPr/>
        </p:nvSpPr>
        <p:spPr>
          <a:xfrm>
            <a:off x="6019800" y="2476500"/>
            <a:ext cx="66675" cy="1447800"/>
          </a:xfrm>
          <a:prstGeom prst="rect">
            <a:avLst/>
          </a:prstGeom>
          <a:solidFill>
            <a:srgbClr val="73F2A6"/>
          </a:solidFill>
          <a:ln w="0">
            <a:solidFill>
              <a:srgbClr val="73F2A6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EC9AD3-D2D4-4260-8685-F22770D7565C}"/>
              </a:ext>
            </a:extLst>
          </p:cNvPr>
          <p:cNvSpPr>
            <a:spLocks noGrp="1"/>
          </p:cNvSpPr>
          <p:nvPr/>
        </p:nvSpPr>
        <p:spPr>
          <a:xfrm>
            <a:off x="6229350" y="2667000"/>
            <a:ext cx="4324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>
                <a:solidFill>
                  <a:srgbClr val="EEF5F0"/>
                </a:solidFill>
              </a:defRPr>
            </a:pPr>
            <a:r>
              <a:rPr sz="1800" b="1">
                <a:solidFill>
                  <a:srgbClr val="EEF5F0"/>
                </a:solidFill>
              </a:rPr>
              <a:t>Technical evidence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BF56796-1F72-4154-9C90-D4E49D6E7B03}"/>
              </a:ext>
            </a:extLst>
          </p:cNvPr>
          <p:cNvSpPr>
            <a:spLocks noGrp="1"/>
          </p:cNvSpPr>
          <p:nvPr/>
        </p:nvSpPr>
        <p:spPr>
          <a:xfrm>
            <a:off x="6229350" y="3086100"/>
            <a:ext cx="43243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A8B4AE"/>
                </a:solidFill>
              </a:defRPr>
            </a:pPr>
            <a:r>
              <a:rPr sz="1350" b="0">
                <a:solidFill>
                  <a:srgbClr val="A8B4AE"/>
                </a:solidFill>
              </a:rPr>
              <a:t>GNU Radio scripts, server-side validators, local parsers and generated artifacts show implementation depth.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4770D6E-8C62-4AF3-AA23-0BCB91A77990}"/>
              </a:ext>
            </a:extLst>
          </p:cNvPr>
          <p:cNvSpPr>
            <a:spLocks noGrp="1"/>
          </p:cNvSpPr>
          <p:nvPr/>
        </p:nvSpPr>
        <p:spPr>
          <a:xfrm>
            <a:off x="685800" y="4762500"/>
            <a:ext cx="9906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950" b="0">
                <a:solidFill>
                  <a:srgbClr val="A8B4AE"/>
                </a:solidFill>
              </a:defRPr>
            </a:pPr>
            <a:r>
              <a:rPr sz="1950" b="0">
                <a:solidFill>
                  <a:srgbClr val="A8B4AE"/>
                </a:solidFill>
              </a:rPr>
              <a:t>Evidence should be repeatable: commands, visible outputs, solved flags and documented limits.</a:t>
            </a:r>
          </a:p>
        </p:txBody>
      </p:sp>
    </p:spTree>
    <p:extLst>
      <p:ext uri="{BB962C8B-B14F-4D97-AF65-F5344CB8AC3E}">
        <p14:creationId xmlns:p14="http://schemas.microsoft.com/office/powerpoint/2010/main" val="15380389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3373975B-9D5B-465B-B0FE-D4E4108ED735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1">
                <a:solidFill>
                  <a:srgbClr val="59D7E8"/>
                </a:solidFill>
              </a:defRPr>
            </a:pPr>
            <a:r>
              <a:rPr sz="975" b="1">
                <a:solidFill>
                  <a:srgbClr val="59D7E8"/>
                </a:solidFill>
              </a:rPr>
              <a:t>SIGNAL FORGE CTF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E13BDA8-03E5-4420-8F81-14D990777DC7}"/>
              </a:ext>
            </a:extLst>
          </p:cNvPr>
          <p:cNvSpPr>
            <a:spLocks noGrp="1"/>
          </p:cNvSpPr>
          <p:nvPr/>
        </p:nvSpPr>
        <p:spPr>
          <a:xfrm>
            <a:off x="10953750" y="6057900"/>
            <a:ext cx="6096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1125" b="0">
                <a:solidFill>
                  <a:srgbClr val="A8B4AE"/>
                </a:solidFill>
              </a:defRPr>
            </a:pPr>
            <a:r>
              <a:rPr sz="1125" b="0">
                <a:solidFill>
                  <a:srgbClr val="A8B4AE"/>
                </a:solidFill>
              </a:rPr>
              <a:t>10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0C4C9A5-C63D-4F10-B8C8-148F57499420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91440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000" b="1">
                <a:solidFill>
                  <a:srgbClr val="EEF5F0"/>
                </a:solidFill>
              </a:defRPr>
            </a:pPr>
            <a:r>
              <a:rPr sz="3000" b="1">
                <a:solidFill>
                  <a:srgbClr val="EEF5F0"/>
                </a:solidFill>
              </a:rPr>
              <a:t>Next build priorities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88AD9EB-1356-42F5-B7A0-689E9451A192}"/>
              </a:ext>
            </a:extLst>
          </p:cNvPr>
          <p:cNvSpPr>
            <a:spLocks noGrp="1"/>
          </p:cNvSpPr>
          <p:nvPr/>
        </p:nvSpPr>
        <p:spPr>
          <a:xfrm>
            <a:off x="685800" y="1638300"/>
            <a:ext cx="8953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0">
                <a:solidFill>
                  <a:srgbClr val="A8B4AE"/>
                </a:solidFill>
              </a:defRPr>
            </a:pPr>
            <a:r>
              <a:rPr sz="1575" b="0">
                <a:solidFill>
                  <a:srgbClr val="A8B4AE"/>
                </a:solidFill>
              </a:rPr>
              <a:t>Make the lab reliable first, then make the hardest tasks serious.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3E7F351-2674-40C4-BCB0-2DDC5013C239}"/>
              </a:ext>
            </a:extLst>
          </p:cNvPr>
          <p:cNvSpPr>
            <a:spLocks noGrp="1"/>
          </p:cNvSpPr>
          <p:nvPr/>
        </p:nvSpPr>
        <p:spPr>
          <a:xfrm>
            <a:off x="685800" y="2667000"/>
            <a:ext cx="76200" cy="76200"/>
          </a:xfrm>
          <a:prstGeom prst="ellipse">
            <a:avLst/>
          </a:prstGeom>
          <a:solidFill>
            <a:srgbClr val="59D7E8"/>
          </a:solidFill>
          <a:ln w="0">
            <a:solidFill>
              <a:srgbClr val="59D7E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54BE75B-46A4-4FF9-A67B-6F8A4BDF2DA6}"/>
              </a:ext>
            </a:extLst>
          </p:cNvPr>
          <p:cNvSpPr>
            <a:spLocks noGrp="1"/>
          </p:cNvSpPr>
          <p:nvPr/>
        </p:nvSpPr>
        <p:spPr>
          <a:xfrm>
            <a:off x="933450" y="2571750"/>
            <a:ext cx="9144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 b="0">
                <a:solidFill>
                  <a:srgbClr val="EEF5F0"/>
                </a:solidFill>
              </a:defRPr>
            </a:pPr>
            <a:r>
              <a:rPr sz="1725" b="0">
                <a:solidFill>
                  <a:srgbClr val="EEF5F0"/>
                </a:solidFill>
              </a:rPr>
              <a:t>Make every context use a distinct signalling scheme and operation flow.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4D0A533-9C48-443D-8037-33BD31A96821}"/>
              </a:ext>
            </a:extLst>
          </p:cNvPr>
          <p:cNvSpPr>
            <a:spLocks noGrp="1"/>
          </p:cNvSpPr>
          <p:nvPr/>
        </p:nvSpPr>
        <p:spPr>
          <a:xfrm>
            <a:off x="685800" y="3371850"/>
            <a:ext cx="76200" cy="76200"/>
          </a:xfrm>
          <a:prstGeom prst="ellipse">
            <a:avLst/>
          </a:prstGeom>
          <a:solidFill>
            <a:srgbClr val="73F2A6"/>
          </a:solidFill>
          <a:ln w="0">
            <a:solidFill>
              <a:srgbClr val="73F2A6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D2B4A82-A49D-4C20-81A0-0E6329D3D4E7}"/>
              </a:ext>
            </a:extLst>
          </p:cNvPr>
          <p:cNvSpPr>
            <a:spLocks noGrp="1"/>
          </p:cNvSpPr>
          <p:nvPr/>
        </p:nvSpPr>
        <p:spPr>
          <a:xfrm>
            <a:off x="933450" y="3276600"/>
            <a:ext cx="9144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 b="0">
                <a:solidFill>
                  <a:srgbClr val="EEF5F0"/>
                </a:solidFill>
              </a:defRPr>
            </a:pPr>
            <a:r>
              <a:rPr sz="1725" b="0">
                <a:solidFill>
                  <a:srgbClr val="EEF5F0"/>
                </a:solidFill>
              </a:rPr>
              <a:t>Keep GNU Radio scripts as editable source inputs for generated live views.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D91D371-55F8-4FD5-AD97-BB493DE3DA65}"/>
              </a:ext>
            </a:extLst>
          </p:cNvPr>
          <p:cNvSpPr>
            <a:spLocks noGrp="1"/>
          </p:cNvSpPr>
          <p:nvPr/>
        </p:nvSpPr>
        <p:spPr>
          <a:xfrm>
            <a:off x="685800" y="4076700"/>
            <a:ext cx="76200" cy="76200"/>
          </a:xfrm>
          <a:prstGeom prst="ellipse">
            <a:avLst/>
          </a:prstGeom>
          <a:solidFill>
            <a:srgbClr val="FFC766"/>
          </a:solidFill>
          <a:ln w="0">
            <a:solidFill>
              <a:srgbClr val="FFC766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F3B6246-291B-41D9-833E-683BF65F6756}"/>
              </a:ext>
            </a:extLst>
          </p:cNvPr>
          <p:cNvSpPr>
            <a:spLocks noGrp="1"/>
          </p:cNvSpPr>
          <p:nvPr/>
        </p:nvSpPr>
        <p:spPr>
          <a:xfrm>
            <a:off x="933450" y="3981450"/>
            <a:ext cx="9144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 b="0">
                <a:solidFill>
                  <a:srgbClr val="EEF5F0"/>
                </a:solidFill>
              </a:defRPr>
            </a:pPr>
            <a:r>
              <a:rPr sz="1725" b="0">
                <a:solidFill>
                  <a:srgbClr val="EEF5F0"/>
                </a:solidFill>
              </a:rPr>
              <a:t>Add deeper RF reverse engineering, firmware RE and binary exploitation tasks.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1BFA986-CCD3-4898-9F48-0863B88E8616}"/>
              </a:ext>
            </a:extLst>
          </p:cNvPr>
          <p:cNvSpPr>
            <a:spLocks noGrp="1"/>
          </p:cNvSpPr>
          <p:nvPr/>
        </p:nvSpPr>
        <p:spPr>
          <a:xfrm>
            <a:off x="685800" y="4781550"/>
            <a:ext cx="76200" cy="76200"/>
          </a:xfrm>
          <a:prstGeom prst="ellipse">
            <a:avLst/>
          </a:prstGeom>
          <a:solidFill>
            <a:srgbClr val="FF6B6B"/>
          </a:solidFill>
          <a:ln w="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2466D11-EB33-453A-A5DC-544FD9A2B7AF}"/>
              </a:ext>
            </a:extLst>
          </p:cNvPr>
          <p:cNvSpPr>
            <a:spLocks noGrp="1"/>
          </p:cNvSpPr>
          <p:nvPr/>
        </p:nvSpPr>
        <p:spPr>
          <a:xfrm>
            <a:off x="933450" y="4686300"/>
            <a:ext cx="9144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 b="0">
                <a:solidFill>
                  <a:srgbClr val="EEF5F0"/>
                </a:solidFill>
              </a:defRPr>
            </a:pPr>
            <a:r>
              <a:rPr sz="1725" b="0">
                <a:solidFill>
                  <a:srgbClr val="EEF5F0"/>
                </a:solidFill>
              </a:rPr>
              <a:t>Use advanced propagation, jamming, hardware and detection work as the SOTA extension lane.</a:t>
            </a:r>
          </a:p>
        </p:txBody>
      </p:sp>
      <p:cxnSp>
        <p:nvCxnSpPr>
          <p:cNvPr id="26" name="Straight Arrow Connector 25"/>
          <p:cNvCxnSpPr/>
          <p:nvPr/>
        </p:nvCxnSpPr>
        <p:spPr>
          <a:xfrm>
            <a:off x="685800" y="5810250"/>
            <a:ext cx="7315200" cy="0"/>
          </a:xfrm>
          <a:prstGeom prst="straightConnector1">
            <a:avLst/>
          </a:prstGeom>
          <a:ln w="28575">
            <a:solidFill>
              <a:srgbClr val="73F2A6"/>
            </a:solidFill>
            <a:prstDash val="solid"/>
          </a:ln>
        </p:spPr>
      </p:cxnSp>
    </p:spTree>
    <p:extLst>
      <p:ext uri="{BB962C8B-B14F-4D97-AF65-F5344CB8AC3E}">
        <p14:creationId xmlns:p14="http://schemas.microsoft.com/office/powerpoint/2010/main" val="2046227227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828</Words>
  <Application>Microsoft Office PowerPoint</Application>
  <DocSecurity>0</DocSecurity>
  <PresentationFormat>Widescreen</PresentationFormat>
  <Paragraphs>132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2" baseType="lpstr"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Thomas A. Gosman</cp:lastModifiedBy>
  <cp:revision>1</cp:revision>
  <dcterms:created xsi:type="dcterms:W3CDTF">2026-07-19T07:05:09Z</dcterms:created>
  <dcterms:modified xsi:type="dcterms:W3CDTF">2026-07-19T07:07:04Z</dcterms:modified>
</cp:coreProperties>
</file>