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9229f81e5a4c59" /><Relationship Type="http://schemas.openxmlformats.org/officeDocument/2006/relationships/extended-properties" Target="/docProps/app.xml" Id="Ra23cbbd58c284fe3" /><Relationship Type="http://schemas.openxmlformats.org/officeDocument/2006/relationships/officeDocument" Target="/ppt/presentation.xml" Id="R6bdcdd2219934f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b8a9c9cad8415e"/>
  </p:sldMasterIdLst>
  <p:notesMasterIdLst>
    <p:notesMasterId xmlns:r="http://schemas.openxmlformats.org/officeDocument/2006/relationships" r:id="R54a1e7aa8ac64a57"/>
  </p:notesMasterIdLst>
  <p:sldIdLst>
    <p:sldId xmlns:r="http://schemas.openxmlformats.org/officeDocument/2006/relationships" id="256" r:id="R05762c5c975f4b52"/>
    <p:sldId xmlns:r="http://schemas.openxmlformats.org/officeDocument/2006/relationships" id="257" r:id="R358d3678ca1147ce"/>
    <p:sldId xmlns:r="http://schemas.openxmlformats.org/officeDocument/2006/relationships" id="258" r:id="Rba7d87d5bc374985"/>
    <p:sldId xmlns:r="http://schemas.openxmlformats.org/officeDocument/2006/relationships" id="259" r:id="R8e0c97066a5346fc"/>
    <p:sldId xmlns:r="http://schemas.openxmlformats.org/officeDocument/2006/relationships" id="260" r:id="R4879bd61aee947b0"/>
    <p:sldId xmlns:r="http://schemas.openxmlformats.org/officeDocument/2006/relationships" id="261" r:id="R8974d108988f43fa"/>
    <p:sldId xmlns:r="http://schemas.openxmlformats.org/officeDocument/2006/relationships" id="262" r:id="R39a49e33e2a149f0"/>
    <p:sldId xmlns:r="http://schemas.openxmlformats.org/officeDocument/2006/relationships" id="263" r:id="R86e8658751044e38"/>
    <p:sldId xmlns:r="http://schemas.openxmlformats.org/officeDocument/2006/relationships" id="264" r:id="Rb9f8df799c94486d"/>
    <p:sldId xmlns:r="http://schemas.openxmlformats.org/officeDocument/2006/relationships" id="265" r:id="Rd9b36f5f650c42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08491aca3a42c7" /><Relationship Type="http://schemas.openxmlformats.org/officeDocument/2006/relationships/slideMaster" Target="/ppt/slideMasters/slideMaster1.xml" Id="Rdbb8a9c9cad8415e" /><Relationship Type="http://schemas.openxmlformats.org/officeDocument/2006/relationships/notesMaster" Target="/ppt/notesMasters/notesMaster1.xml" Id="R54a1e7aa8ac64a57" /><Relationship Type="http://schemas.openxmlformats.org/officeDocument/2006/relationships/presProps" Target="/ppt/presProps.xml" Id="Rb208f70d53094611" /><Relationship Type="http://schemas.openxmlformats.org/officeDocument/2006/relationships/tableStyles" Target="/ppt/tableStyles.xml" Id="R8774cbc534214fdc" /><Relationship Type="http://schemas.openxmlformats.org/officeDocument/2006/relationships/slide" Target="/ppt/slides/slide1.xml" Id="R05762c5c975f4b52" /><Relationship Type="http://schemas.openxmlformats.org/officeDocument/2006/relationships/slide" Target="/ppt/slides/slide2.xml" Id="R358d3678ca1147ce" /><Relationship Type="http://schemas.openxmlformats.org/officeDocument/2006/relationships/slide" Target="/ppt/slides/slide3.xml" Id="Rba7d87d5bc374985" /><Relationship Type="http://schemas.openxmlformats.org/officeDocument/2006/relationships/slide" Target="/ppt/slides/slide4.xml" Id="R8e0c97066a5346fc" /><Relationship Type="http://schemas.openxmlformats.org/officeDocument/2006/relationships/slide" Target="/ppt/slides/slide5.xml" Id="R4879bd61aee947b0" /><Relationship Type="http://schemas.openxmlformats.org/officeDocument/2006/relationships/slide" Target="/ppt/slides/slide6.xml" Id="R8974d108988f43fa" /><Relationship Type="http://schemas.openxmlformats.org/officeDocument/2006/relationships/slide" Target="/ppt/slides/slide7.xml" Id="R39a49e33e2a149f0" /><Relationship Type="http://schemas.openxmlformats.org/officeDocument/2006/relationships/slide" Target="/ppt/slides/slide8.xml" Id="R86e8658751044e38" /><Relationship Type="http://schemas.openxmlformats.org/officeDocument/2006/relationships/slide" Target="/ppt/slides/slide9.xml" Id="Rb9f8df799c94486d" /><Relationship Type="http://schemas.openxmlformats.org/officeDocument/2006/relationships/slide" Target="/ppt/slides/slide10.xml" Id="Rd9b36f5f650c42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7b3e29952744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94d8a60f5f4f89" /><Relationship Type="http://schemas.openxmlformats.org/officeDocument/2006/relationships/notesMaster" Target="/ppt/notesMasters/notesMaster1.xml" Id="R33db30b5d01d42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d32d08a27a430b" /><Relationship Type="http://schemas.openxmlformats.org/officeDocument/2006/relationships/notesMaster" Target="/ppt/notesMasters/notesMaster1.xml" Id="Ra9e91bb8a8d041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b6237c5c4e47cd" /><Relationship Type="http://schemas.openxmlformats.org/officeDocument/2006/relationships/notesMaster" Target="/ppt/notesMasters/notesMaster1.xml" Id="R6cf2db539da44e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90f7c57d6744ef" /><Relationship Type="http://schemas.openxmlformats.org/officeDocument/2006/relationships/notesMaster" Target="/ppt/notesMasters/notesMaster1.xml" Id="R496379835bba4b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4b0d8444084d81" /><Relationship Type="http://schemas.openxmlformats.org/officeDocument/2006/relationships/notesMaster" Target="/ppt/notesMasters/notesMaster1.xml" Id="R7f4b21afc83648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14d821ed4a4fa8" /><Relationship Type="http://schemas.openxmlformats.org/officeDocument/2006/relationships/notesMaster" Target="/ppt/notesMasters/notesMaster1.xml" Id="Ra116fba76aa646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075b232524434c" /><Relationship Type="http://schemas.openxmlformats.org/officeDocument/2006/relationships/notesMaster" Target="/ppt/notesMasters/notesMaster1.xml" Id="R1e77f8666ab24d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d0c900fa4a49b3" /><Relationship Type="http://schemas.openxmlformats.org/officeDocument/2006/relationships/notesMaster" Target="/ppt/notesMasters/notesMaster1.xml" Id="Ref704c2df7f54f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cd333c661e44ab" /><Relationship Type="http://schemas.openxmlformats.org/officeDocument/2006/relationships/notesMaster" Target="/ppt/notesMasters/notesMaster1.xml" Id="R9c777d35daba46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15b471f67f489f" /><Relationship Type="http://schemas.openxmlformats.org/officeDocument/2006/relationships/notesMaster" Target="/ppt/notesMasters/notesMaster1.xml" Id="Rb2ddc7ace33840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ae849b18646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5e99b0f54c47db" /><Relationship Type="http://schemas.openxmlformats.org/officeDocument/2006/relationships/slideLayout" Target="/ppt/slideLayouts/slideLayout1.xml" Id="Rcbb301d1670c4d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b301d1670c4d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e25ee2cf543ca" /><Relationship Type="http://schemas.openxmlformats.org/officeDocument/2006/relationships/notesSlide" Target="/ppt/notesSlides/notesSlide1.xml" Id="Rf30115ebea3b4e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818d0496143cd" /><Relationship Type="http://schemas.openxmlformats.org/officeDocument/2006/relationships/notesSlide" Target="/ppt/notesSlides/notesSlide2.xml" Id="R86918d6e5ff840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4769fd8ab4154" /><Relationship Type="http://schemas.openxmlformats.org/officeDocument/2006/relationships/notesSlide" Target="/ppt/notesSlides/notesSlide3.xml" Id="R3666fc0ada4c49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7582847224bf2" /><Relationship Type="http://schemas.openxmlformats.org/officeDocument/2006/relationships/notesSlide" Target="/ppt/notesSlides/notesSlide4.xml" Id="Rcd5216e6798f41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347fb052e4b9d" /><Relationship Type="http://schemas.openxmlformats.org/officeDocument/2006/relationships/notesSlide" Target="/ppt/notesSlides/notesSlide5.xml" Id="R89626f9076b54b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20aed726549f9" /><Relationship Type="http://schemas.openxmlformats.org/officeDocument/2006/relationships/notesSlide" Target="/ppt/notesSlides/notesSlide6.xml" Id="R3c64baf0b2ee4e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418ef0fce46ef" /><Relationship Type="http://schemas.openxmlformats.org/officeDocument/2006/relationships/notesSlide" Target="/ppt/notesSlides/notesSlide7.xml" Id="R7544e94f609947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2eaad18654b1e" /><Relationship Type="http://schemas.openxmlformats.org/officeDocument/2006/relationships/chart" Target="/ppt/slides/charts/chart1.xml" Id="R0e213013bc164d34" /><Relationship Type="http://schemas.openxmlformats.org/officeDocument/2006/relationships/notesSlide" Target="/ppt/notesSlides/notesSlide8.xml" Id="R6bf7b0bb94a547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4c2422ddc440b" /><Relationship Type="http://schemas.openxmlformats.org/officeDocument/2006/relationships/notesSlide" Target="/ppt/notesSlides/notesSlide9.xml" Id="R7f372b9c92bb46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a4660d9ea40e2" /><Relationship Type="http://schemas.openxmlformats.org/officeDocument/2006/relationships/notesSlide" Target="/ppt/notesSlides/notesSlide10.xml" Id="R02b10915bef444a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Current implementation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5"/>
              <c:pt idx="0">
                <c:v>RF</c:v>
              </c:pt>
              <c:pt idx="1">
                <c:v>Cyber</c:v>
              </c:pt>
              <c:pt idx="2">
                <c:v>Hardware</c:v>
              </c:pt>
              <c:pt idx="3">
                <c:v>Jamming</c:v>
              </c:pt>
              <c:pt idx="4">
                <c:v>Detection</c:v>
              </c:pt>
            </c:strLit>
          </c:cat>
          <c:val>
            <c:numLit>
              <c:formatCode>General</c:formatCode>
              <c:ptCount val="5"/>
              <c:pt idx="0">
                <c:v>3</c:v>
              </c:pt>
              <c:pt idx="1">
                <c:v>4</c:v>
              </c:pt>
              <c:pt idx="2">
                <c:v>2</c:v>
              </c:pt>
              <c:pt idx="3">
                <c:v>2</c:v>
              </c:pt>
              <c:pt idx="4">
                <c:v>2</c:v>
              </c:pt>
            </c:numLit>
          </c:val>
        </c:ser>
        <c:ser>
          <c:idx val="1"/>
          <c:order val="1"/>
          <c:tx>
            <c:v>SOTA target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RF</c:v>
              </c:pt>
              <c:pt idx="1">
                <c:v>Cyber</c:v>
              </c:pt>
              <c:pt idx="2">
                <c:v>Hardware</c:v>
              </c:pt>
              <c:pt idx="3">
                <c:v>Jamming</c:v>
              </c:pt>
              <c:pt idx="4">
                <c:v>Detection</c:v>
              </c:pt>
            </c:strLit>
          </c:cat>
          <c:val>
            <c:numLit>
              <c:formatCode>General</c:formatCode>
              <c:ptCount val="5"/>
              <c:pt idx="0">
                <c:v>5</c:v>
              </c:pt>
              <c:pt idx="1">
                <c:v>5</c:v>
              </c:pt>
              <c:pt idx="2">
                <c:v>5</c:v>
              </c:pt>
              <c:pt idx="3">
                <c:v>5</c:v>
              </c:pt>
              <c:pt idx="4">
                <c:v>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abel-COMP6841 PROJECT">
            <a:extLst xmlns:a="http://schemas.openxmlformats.org/drawingml/2006/main">
              <a:ext uri="{FF2B5EF4-FFF2-40B4-BE49-F238E27FC236}">
                <a16:creationId xmlns:a16="http://schemas.microsoft.com/office/drawing/2014/main" id="{9FFAB648-1BFE-4ACC-8D05-55D0DEC1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16F"/>
                </a:solidFill>
              </a:defRPr>
            </a:pPr>
            <a:r>
              <a:rPr sz="1050" b="1">
                <a:solidFill>
                  <a:srgbClr val="56616F"/>
                </a:solidFill>
              </a:rPr>
              <a:t>COMP6841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3CF5F-AF48-4278-992C-B9E41F0D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Signal Forge CTF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00DBE-3659-4DC6-BC3E-D39552FB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6616F"/>
                </a:solidFill>
              </a:defRPr>
            </a:pPr>
            <a:r>
              <a:rPr sz="2250" b="0">
                <a:solidFill>
                  <a:srgbClr val="56616F"/>
                </a:solidFill>
              </a:rPr>
              <a:t>A sim-first contested spectrum training lab with real cyber-security progression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533400" y="4819650"/>
            <a:ext cx="6134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4C779-4EE8-4855-A937-A369E1DC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RF visibility -&gt; protocol analysis -&gt; backend abuse -&gt; reverse engineering -&gt; firmware, HDL and jamming resilience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316F2-6D64-4040-B792-AE2211E2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81100"/>
            <a:ext cx="24003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8E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70E3E-08EA-414B-B631-4CA30387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04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Lab principle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D0FCA-8C1E-4CF6-AD3C-2E1E41DB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56F2D-8E62-4C8F-B757-7C8AF161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574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No SDR hardware 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4EE5C-42E0-4D34-930B-E92A61DC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B7180-84F8-4922-8F1F-7EDA5EEB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GNU Radio remains editable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FEBF2-AAFC-40DA-B8BF-70C1FA67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62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A3247-8C1E-4710-9721-A7189736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861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Signals and cyber faults are local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84622-836D-431B-B953-DA91E569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76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F10FB-4E83-426E-B471-90CEE53A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004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Advanced tasks point toward SOTA practice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930A2-4DF9-4FD5-9610-9D9DED5D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491"/>
                </a:solidFill>
              </a:defRPr>
            </a:pPr>
            <a:r>
              <a:rPr sz="900" b="1">
                <a:solidFill>
                  <a:srgbClr val="7B8491"/>
                </a:solidFill>
              </a:rPr>
              <a:t>SIGNAL FORGE CTF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39F0C-794F-488E-B6B4-E7CF9986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491"/>
                </a:solidFill>
              </a:defRPr>
            </a:pPr>
            <a:r>
              <a:rPr sz="1050" b="0">
                <a:solidFill>
                  <a:srgbClr val="7B849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301636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AAD9F8B-7B20-4899-B038-88552649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training gap is the trust boundary between RF and software</a:t>
            </a:r>
          </a:p>
        </p:txBody>
      </p:sp>
      <p:sp>
        <p:nvSpPr>
          <p:cNvPr id="2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FBC0D1B8-D2B6-44D1-A83B-B533ECC9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16F"/>
                </a:solidFill>
              </a:defRPr>
            </a:pPr>
            <a:r>
              <a:rPr sz="1500" b="0">
                <a:solidFill>
                  <a:srgbClr val="56616F"/>
                </a:solidFill>
              </a:rPr>
              <a:t>Learners often see RF, web exploitation, firmware, and hardware security as separate worlds. This CTF makes them one investigation.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499EF-0940-40CF-B2EA-A664C65A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491"/>
                </a:solidFill>
              </a:defRPr>
            </a:pPr>
            <a:r>
              <a:rPr sz="900" b="1">
                <a:solidFill>
                  <a:srgbClr val="7B8491"/>
                </a:solidFill>
              </a:rPr>
              <a:t>SIGNAL FORGE CTF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14878-59F1-479D-8D04-6F2BC97F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491"/>
                </a:solidFill>
              </a:defRPr>
            </a:pPr>
            <a:r>
              <a:rPr sz="1050" b="0">
                <a:solidFill>
                  <a:srgbClr val="7B8491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143C8-D5D8-45C7-B991-90885EAA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09C48-0CAB-41A3-A237-B4F66891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What beginners see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8FD41-CAF6-4341-A4A0-E26CDFAC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EB353-5B23-48A8-B130-6B471B0F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 waterfall has energy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0FD6F-6296-46C9-80D5-CA27B22A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14D8D-0BDD-4EAC-9326-C46E3126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 packet carries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17276-CB69-481E-82A2-00A4AE08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94F67-6341-48E6-8ADC-ECE94EE3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 backend returns a quote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2511E-8EBC-4DB1-9A66-F01D8845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8E8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16DCA-E050-4B99-8AC2-7009D403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62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What defenders need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61FC4-4573-4CDB-85A2-600DC3C4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959DA-7B2A-4642-8C28-DF6F3CAF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9527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Signal confidence has limits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FD603-28B4-4194-B3E3-E77CFFCE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00903B-AAF1-4E1D-8759-A74E3363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099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Decoded fields are untrusted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E001B-FFA7-433E-8E49-95EF2C8C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A4B55-06F3-4AEF-A4FB-3E1A4CA8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671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Operational effects need 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9A1BD-9C83-4F54-9501-22CFE77E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2D49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DAE641-2470-42D7-83F1-8CFC10CA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62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What the CTF teaches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A7D07E-1E85-4B91-BED0-E4D6C2CF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F5A5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14D325-5392-48B3-ADC6-1A0714B5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Observe, tune, decode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13CBE3-D6B9-4A79-9AF5-780099AF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F5A52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5E3CFA-BAE2-48D6-9657-56E2D547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99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Attack controlled local systems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B6D140-35B8-4F5F-B589-12769EEB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F5A52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BC3AF1-ABCF-43F9-AB6E-9D3A847D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671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Compare secure designs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A2BD9C-0955-4CE7-963C-CEF42C54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340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The core lesson is not “break a radio”; it is “never trust RF-origin data just because it arrived through a familiar system.”</a:t>
            </a:r>
          </a:p>
        </p:txBody>
      </p:sp>
    </p:spTree>
    <p:extLst>
      <p:ext uri="{BB962C8B-B14F-4D97-AF65-F5344CB8AC3E}">
        <p14:creationId xmlns:p14="http://schemas.microsoft.com/office/powerpoint/2010/main" val="14925279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837464B-7135-4B0D-94D2-B342D7A2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experience is structured as situations, not loose tasks</a:t>
            </a:r>
          </a:p>
        </p:txBody>
      </p:sp>
      <p:sp>
        <p:nvSpPr>
          <p:cNvPr id="2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973406B4-E769-4C83-8C7E-3E46C020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16F"/>
                </a:solidFill>
              </a:defRPr>
            </a:pPr>
            <a:r>
              <a:rPr sz="1500" b="0">
                <a:solidFill>
                  <a:srgbClr val="56616F"/>
                </a:solidFill>
              </a:rPr>
              <a:t>Each context contains small subtasks with a flag, a story, signal evidence, radio controls, hints, and a safe local success condition.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350BF-F250-4651-817C-36620DF7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491"/>
                </a:solidFill>
              </a:defRPr>
            </a:pPr>
            <a:r>
              <a:rPr sz="900" b="1">
                <a:solidFill>
                  <a:srgbClr val="7B8491"/>
                </a:solidFill>
              </a:rPr>
              <a:t>SIGNAL FORGE CTF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75AD8-F8F3-4BE7-AD44-42FCA229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491"/>
                </a:solidFill>
              </a:defRPr>
            </a:pPr>
            <a:r>
              <a:rPr sz="1050" b="0">
                <a:solidFill>
                  <a:srgbClr val="7B8491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B6898-EA95-42D6-B0F5-50EED26E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98E2A-3D9C-4EC6-A114-F9251BB5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1D91C-C7EC-4C17-89F5-B3C8C1DE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</a:defRPr>
            </a:pPr>
            <a:r>
              <a:rPr sz="1200" b="0">
                <a:solidFill>
                  <a:srgbClr val="56616F"/>
                </a:solidFill>
              </a:rPr>
              <a:t>training situations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A357F-40CF-4D70-81AD-9F9387C7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F5826-2B77-4A61-862E-668235D7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6B37E"/>
                </a:solidFill>
              </a:defRPr>
            </a:pPr>
            <a:r>
              <a:rPr sz="2700" b="1">
                <a:solidFill>
                  <a:srgbClr val="36B37E"/>
                </a:solidFill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5D533-29F8-4C49-A35D-48B467FB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670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</a:defRPr>
            </a:pPr>
            <a:r>
              <a:rPr sz="1200" b="0">
                <a:solidFill>
                  <a:srgbClr val="56616F"/>
                </a:solidFill>
              </a:rPr>
              <a:t>subtasks with flags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48077-87B3-48D3-A8E9-FC7224E5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0025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30F80-CBC2-47FB-993E-642FBC25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717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A524"/>
                </a:solidFill>
              </a:defRPr>
            </a:pPr>
            <a:r>
              <a:rPr sz="2700" b="1">
                <a:solidFill>
                  <a:srgbClr val="F5A524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3FFDB-19F8-4D16-BF1B-3137BFBC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670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</a:defRPr>
            </a:pPr>
            <a:r>
              <a:rPr sz="1200" b="0">
                <a:solidFill>
                  <a:srgbClr val="56616F"/>
                </a:solidFill>
              </a:rPr>
              <a:t>advanced contexts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C8493-A392-484A-8028-EFA9E3AB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02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C3492-6CFB-44BC-A1E9-061C31C3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55353"/>
                </a:solidFill>
              </a:defRPr>
            </a:pPr>
            <a:r>
              <a:rPr sz="2700" b="1">
                <a:solidFill>
                  <a:srgbClr val="E55353"/>
                </a:solidFill>
              </a:rPr>
              <a:t>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3ED7D-C4E7-4D36-878B-7A7B40DA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6700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</a:defRPr>
            </a:pPr>
            <a:r>
              <a:rPr sz="1200" b="0">
                <a:solidFill>
                  <a:srgbClr val="56616F"/>
                </a:solidFill>
              </a:rPr>
              <a:t>GNU Radio-backed generated replays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800100" y="3905250"/>
            <a:ext cx="9886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93356-6F16-4103-B9C6-6860F6B8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Learner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FFB1A3-E4B7-4C60-8214-5035333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10050"/>
            <a:ext cx="1352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84F4D-65CC-4FEB-9CCB-DF4CF08C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196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inspect signal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4324350" y="45720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E45ADE-A216-40D6-BD23-8D021C24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10050"/>
            <a:ext cx="1352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D81A6D-307A-4BB9-A3B9-7C97F49F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196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operate receiver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5962650" y="45720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24D037-288D-4AA0-B1D2-5E70F044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0050"/>
            <a:ext cx="1352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0FA398-6A46-4E38-A7A4-8C921ED1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96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decode/reverse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7600950" y="45720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E543C6-D925-45B3-959C-30912D3C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0050"/>
            <a:ext cx="1352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4DB120-2D2A-4BF7-AB1C-1129FBE9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196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trigger local effect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9239250" y="45720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C34CC8-3CC0-47E4-84F6-679AD27C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1352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5F34E2-1625-4348-80E6-FAB80938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196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submit flag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15F8EB-4A07-4920-91B5-AC257B92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007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16F"/>
                </a:solidFill>
              </a:defRPr>
            </a:pPr>
            <a:r>
              <a:rPr sz="1350" b="0">
                <a:solidFill>
                  <a:srgbClr val="56616F"/>
                </a:solidFill>
              </a:rPr>
              <a:t>The page now treats contexts as the visible situations; subtasks live inside each context page so the structure matches the spreadsheet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17571703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BE8FF379-BEB2-4DE3-BC20-CB83FE6E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architecture keeps the lab safe while preserving technical depth</a:t>
            </a:r>
          </a:p>
        </p:txBody>
      </p:sp>
      <p:sp>
        <p:nvSpPr>
          <p:cNvPr id="2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6CFBBD14-9A40-4861-8600-54E35C15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16F"/>
                </a:solidFill>
              </a:defRPr>
            </a:pPr>
            <a:r>
              <a:rPr sz="1500" b="0">
                <a:solidFill>
                  <a:srgbClr val="56616F"/>
                </a:solidFill>
              </a:rPr>
              <a:t>The assessed path is local and synthetic; developer hooks can still connect real GNU Radio work and external scripts.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6DE71-15FD-42DF-BFCE-03C97CFA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491"/>
                </a:solidFill>
              </a:defRPr>
            </a:pPr>
            <a:r>
              <a:rPr sz="900" b="1">
                <a:solidFill>
                  <a:srgbClr val="7B8491"/>
                </a:solidFill>
              </a:rPr>
              <a:t>SIGNAL FORGE CTF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03BFC-13CE-4A0C-A693-10BB1AAF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491"/>
                </a:solidFill>
              </a:defRPr>
            </a:pPr>
            <a:r>
              <a:rPr sz="1050" b="0">
                <a:solidFill>
                  <a:srgbClr val="7B8491"/>
                </a:solidFill>
              </a:rPr>
              <a:t>04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2038350" y="3333750"/>
            <a:ext cx="786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3371850" y="2266950"/>
            <a:ext cx="0" cy="2190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6019800" y="2266950"/>
            <a:ext cx="0" cy="2190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8572500" y="2266950"/>
            <a:ext cx="0" cy="2190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E0944-7E68-4BCE-8468-D5A08716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286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A5F5E-1189-45CF-9169-9C5C9E6F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GNU Radio 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32764-5246-46CB-8479-D22ADDDE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194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Editable flowgraphs define vector payloads, bit packing, repeat timing and carrier tone.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AF218-9EAA-401C-A7F3-4F87241A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19300"/>
            <a:ext cx="2286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30DAF-61CB-44E6-9EA1-1D4C2C87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717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Python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F875E-D87D-4C20-9DB4-437B535F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14600"/>
            <a:ext cx="194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Synthesizes looping cf32 IQ, FFT rows, parser events, raw samples and flag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604A7-6283-4A5F-8499-DA457577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19300"/>
            <a:ext cx="2286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E7ED7-1D39-4F84-9788-A41B1B01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Browser workbench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D04E7-ED0A-48A7-B359-98BEC1B3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194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Waterfall, time series, cursors, zoom, pause/play, task hints and submissions.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E3CBC-05FE-4E6F-BEBC-E4632D8B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19300"/>
            <a:ext cx="2286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BA6A4-73A2-4C7A-BC1E-1BF53A1B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Learner scripts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287BD-2228-48E5-A5C5-F864662B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14600"/>
            <a:ext cx="194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Terminal commands, TCP ingest and ZMQ bridge support external automation.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6FC5CC-423D-4C15-A28A-2BFBCD33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7195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6FD4E-003C-4BE5-9527-579C857A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243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SQLite and local APIs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D7AAE5-B3F5-4718-A26D-5539B668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672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Vulnerable and safe endpoints support SQLi, logic flaws and defensive comparison.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947D4D-D3FE-4C70-96D2-015C6B45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7195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3DA50E-DADB-4AEE-A274-A372757E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243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Challenge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E72A8A-B88D-41A6-AABB-B743D9F5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Contexts, subtasks, artifacts, hints and validation remain structured JSON.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4C3E9-9A62-4183-9471-927A9813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0"/>
            <a:ext cx="946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No transmit-capable workflow is required for solving; live radio integration remains a developer extension.</a:t>
            </a:r>
          </a:p>
        </p:txBody>
      </p:sp>
    </p:spTree>
    <p:extLst>
      <p:ext uri="{BB962C8B-B14F-4D97-AF65-F5344CB8AC3E}">
        <p14:creationId xmlns:p14="http://schemas.microsoft.com/office/powerpoint/2010/main" val="8727907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ED7B7462-E31B-4BCF-98ED-BE77C9C0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challenge ladder ramps from visible signals to serious cross-domain attacks</a:t>
            </a:r>
          </a:p>
        </p:txBody>
      </p:sp>
      <p:sp>
        <p:nvSpPr>
          <p:cNvPr id="2" name="slide-5-subtitle">
            <a:extLst xmlns:a="http://schemas.openxmlformats.org/drawingml/2006/main">
              <a:ext uri="{FF2B5EF4-FFF2-40B4-BE49-F238E27FC236}">
                <a16:creationId xmlns:a16="http://schemas.microsoft.com/office/drawing/2014/main" id="{A226F6AC-1300-4C00-9CF9-BF25077C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16F"/>
                </a:solidFill>
              </a:defRPr>
            </a:pPr>
            <a:r>
              <a:rPr sz="1500" b="0">
                <a:solidFill>
                  <a:srgbClr val="56616F"/>
                </a:solidFill>
              </a:rPr>
              <a:t>The first contexts teach RF operations; the later contexts force reverse engineering, binary exploitation, HDL review, spoofing, and jamming reasoning.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FD4EB-CDBD-4756-88DE-9817C06C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491"/>
                </a:solidFill>
              </a:defRPr>
            </a:pPr>
            <a:r>
              <a:rPr sz="900" b="1">
                <a:solidFill>
                  <a:srgbClr val="7B8491"/>
                </a:solidFill>
              </a:rPr>
              <a:t>SIGNAL FORGE CTF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86638-A79C-483E-BE74-294ACE9F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491"/>
                </a:solidFill>
              </a:defRPr>
            </a:pPr>
            <a:r>
              <a:rPr sz="1050" b="0">
                <a:solidFill>
                  <a:srgbClr val="7B8491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5F0B1-D839-4B9D-9F3E-2D335A68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1A567-81F9-43D3-A511-18625C84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8F5DF-3FC1-4C49-BF03-78B90182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050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C5CE0-BE1E-4AAC-B17C-B8A71979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193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Level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B7780-920E-4709-84F0-EDD5E1E1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050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87873-1DCF-4EAC-BCB2-308155D4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193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Tasks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90EF1-55AF-497B-BB5C-44242690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6ED74-6AA0-4F7D-A215-3FE84C03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193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A59FC-922E-43EC-BEC1-61BBED19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050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6E2E6-BE1F-425E-8644-C647C47A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1930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Skill focus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44DD1-12CB-402D-AA19-D2AC9A5C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4FF2F-D54C-46B5-8585-1E0E1245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Tunnel Infrastructure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1B55E-0A6A-4AF0-8DB9-C9BA56AC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2410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443AF-89D5-44DF-9D05-D4829EF7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765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Basic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9A45D-1F27-4FC1-BF86-BE5F6C24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241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8A100-520E-4C76-BFE5-DC3C73C8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42C53-B9D6-426F-82B4-F035B7F1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241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452DA-36C8-4D87-906F-CACAE5F7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490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7325C3-DAAB-4797-B740-3028968B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241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2D0B9F-2FA8-4B8A-9CA0-458FC7BD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765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signals + cema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82D24B-428D-4002-8DCF-A7DAA8B3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81E00C-3535-4655-870E-71FAC61C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Broadcasting Song Metadata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6CA597-F554-4F00-88F9-7E9CD56A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765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DAA492-5337-48A2-A17A-CCC2DC9C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289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Basic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4DAC9A-B4B2-40FD-9980-C1736189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765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545975-A3C0-423B-9E39-42E9A057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289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6BA6A3-9D12-4C65-9349-39A7B585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D1A002-0F00-450C-8652-C0298AA4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490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FD494A-5D1A-4778-8F03-A69BEC27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765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A76A2E-1947-47BF-A1EB-0EF5C368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289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signals + cema + cyber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B8A0E1-A145-41D7-8EB9-DD88D1FE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5B27BE-45F6-4304-863D-0FA094F2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Weather Broadcast Boring Voice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D0993B-DFD7-48E4-A7AA-57E466DB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C177F7-E840-49B2-AFA8-2079EFB3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814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Moderate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E47803-3430-48ED-BB11-B00C57DA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290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C29983-0F79-4FD4-843C-7EB83C0D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8140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10F2DE-580A-44CC-BADB-ECC1D79A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819B50-785B-4B74-84BC-F6DF354E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814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680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5EC8EC-17EE-4B92-B530-2BDC59BD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290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F07F3B-B84A-4753-B61D-FECF5E4C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814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signals + cyber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300B9D-DE92-4CB5-AB70-2B94C5D1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124F54-913D-4982-9FA1-37B74958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Civilian Emergency Audio Network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06554B-05C5-448C-82A3-17F73F3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814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39D9DF-CB0F-4E53-B90E-98B29058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338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Moderate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BC1981-B8B2-4B2B-86C7-FF6B1139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814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9723DA-AC44-4E3A-9370-BB8CB862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338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A5C9AC-54E2-4136-8DCB-20DD809C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814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0386A1-0993-48D7-A023-32DABAE3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338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700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FBC264-6653-420A-AF8C-CDF1EC7C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814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E62B51-5470-40DF-9FA3-C781C790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338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signals + cyber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2E63EA-C51A-4741-B4DF-1FAFC775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C765981-5EE8-4D7F-AC83-C006CE36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Bushfire C2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3737DB-FB99-4C55-9160-B78480A2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3390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472B00-558B-4E2E-82DD-49C171A2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863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5353"/>
                </a:solidFill>
              </a:defRPr>
            </a:pPr>
            <a:r>
              <a:rPr sz="1050" b="0">
                <a:solidFill>
                  <a:srgbClr val="E55353"/>
                </a:solidFill>
              </a:rPr>
              <a:t>Advanced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239041-7E4C-4A1B-8BF9-C93B7E77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339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CB72E6-4D37-4331-A041-C16A691B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8630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9421B2E-83F9-4BD1-80CA-48022F87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339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73FBBE-4C79-45F8-AD82-58A6DA59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863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1440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11DA671-091D-47B2-9D5D-ACD3006A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339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42130F-4026-46D1-BD8D-382BFCB0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863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cyber + cema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F32E43C-69D7-4B80-A7E8-873887DA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5CED27B-97FC-452A-8201-56EB690E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Farm Gates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784C18-D1FB-44A3-B9EB-4E3CDCA1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863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01EE6EC-0ADA-4942-B276-CF8DDD74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387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5353"/>
                </a:solidFill>
              </a:defRPr>
            </a:pPr>
            <a:r>
              <a:rPr sz="1050" b="0">
                <a:solidFill>
                  <a:srgbClr val="E55353"/>
                </a:solidFill>
              </a:rPr>
              <a:t>Advanced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F464F5-0C94-4234-9492-97888E46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0863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190CC5-DD06-439F-B754-65D15E1B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2387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DD2410E-7DB0-4861-90EA-EA9D2810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863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CB7D84C-0E9F-4BF1-998B-F684A3A2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387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1440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C43DC2A-7E09-43F1-A7CF-1603B4ED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863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3C398ED-1643-4620-BE6A-BD23145F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387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cyber + cema</a:t>
            </a:r>
          </a:p>
        </p:txBody>
      </p:sp>
    </p:spTree>
    <p:extLst>
      <p:ext uri="{BB962C8B-B14F-4D97-AF65-F5344CB8AC3E}">
        <p14:creationId xmlns:p14="http://schemas.microsoft.com/office/powerpoint/2010/main" val="13927362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2A900CB0-EE94-4C4A-848E-6EA9C471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GNU Radio is now the editable source of signal truth</a:t>
            </a:r>
          </a:p>
        </p:txBody>
      </p:sp>
      <p:sp>
        <p:nvSpPr>
          <p:cNvPr id="2" name="slide-6-subtitle">
            <a:extLst xmlns:a="http://schemas.openxmlformats.org/drawingml/2006/main">
              <a:ext uri="{FF2B5EF4-FFF2-40B4-BE49-F238E27FC236}">
                <a16:creationId xmlns:a16="http://schemas.microsoft.com/office/drawing/2014/main" id="{7889A727-D769-4435-AE71-42B76796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16F"/>
                </a:solidFill>
              </a:defRPr>
            </a:pPr>
            <a:r>
              <a:rPr sz="1500" b="0">
                <a:solidFill>
                  <a:srgbClr val="56616F"/>
                </a:solidFill>
              </a:rPr>
              <a:t>The site no longer depends on recordings as the default. It reads generated Python flowgraphs and synthesizes repeatable IQ streams for the UI.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A03CA-7FDF-4B42-8BB0-49744E61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491"/>
                </a:solidFill>
              </a:defRPr>
            </a:pPr>
            <a:r>
              <a:rPr sz="900" b="1">
                <a:solidFill>
                  <a:srgbClr val="7B8491"/>
                </a:solidFill>
              </a:rPr>
              <a:t>SIGNAL FORGE CTF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0A3C4-4B3C-4849-A76F-5B0185F2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491"/>
                </a:solidFill>
              </a:defRPr>
            </a:pPr>
            <a:r>
              <a:rPr sz="1050" b="0">
                <a:solidFill>
                  <a:srgbClr val="7B8491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C20C9-9A94-40F1-846D-6B26CF3E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08F8E-D878-4FD3-A52C-F24C5A14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Vector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B1263-207E-4993-9C07-1F21B15A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</a:defRPr>
            </a:pPr>
            <a:r>
              <a:rPr sz="1200" b="0">
                <a:solidFill>
                  <a:srgbClr val="56616F"/>
                </a:solidFill>
              </a:rPr>
              <a:t>payload bytes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2914650" y="2533650"/>
            <a:ext cx="57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E5AB3-BE15-4CDF-9806-052A4F66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764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50AB6-56B3-4917-A180-2A090DA9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479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MSB unpack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94240-3934-434C-8292-6E75F361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527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</a:defRPr>
            </a:pPr>
            <a:r>
              <a:rPr sz="1200" b="0">
                <a:solidFill>
                  <a:srgbClr val="56616F"/>
                </a:solidFill>
              </a:rPr>
              <a:t>8 bits per byte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5067300" y="2533650"/>
            <a:ext cx="57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80CDE-1876-4402-AE22-F591CAB9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764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99DDA-D830-4B25-982A-81A0033B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479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Repack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C5788-0085-4FEC-ACC4-3916D1C6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527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</a:defRPr>
            </a:pPr>
            <a:r>
              <a:rPr sz="1200" b="0">
                <a:solidFill>
                  <a:srgbClr val="56616F"/>
                </a:solidFill>
              </a:rPr>
              <a:t>1 or 2 bits/symbol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7219950" y="2533650"/>
            <a:ext cx="57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33654-8BB3-4141-9D21-EF53A193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764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5B245-2CEC-46E5-B200-5D35A648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A0842-EA77-4F6E-98B7-C8AA8ECD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</a:defRPr>
            </a:pPr>
            <a:r>
              <a:rPr sz="1200" b="0">
                <a:solidFill>
                  <a:srgbClr val="56616F"/>
                </a:solidFill>
              </a:rPr>
              <a:t>symbol timing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9372600" y="2533650"/>
            <a:ext cx="57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3EDEB9-E702-43E3-A27C-632626D1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C0E76E-2EA5-48F3-A4BA-DA1A5D9B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479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Carrier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7C497-4F54-4380-BB1B-787421E1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527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</a:defRPr>
            </a:pPr>
            <a:r>
              <a:rPr sz="1200" b="0">
                <a:solidFill>
                  <a:srgbClr val="56616F"/>
                </a:solidFill>
              </a:rPr>
              <a:t>10 kHz tone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5F3E0-A170-4F82-B2B9-48FF36A3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476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6D0C94-5792-4D28-B852-3E09D54C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43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Current working examples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B9DB4D-3C39-469C-94DC-F479A6BA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B37E"/>
          </a:solidFill>
          <a:ln xmlns:a="http://schemas.openxmlformats.org/drawingml/2006/main" w="0">
            <a:solidFill>
              <a:srgbClr val="36B37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0BC2C3-4505-475C-A4D5-AD065F8C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0055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Tunnel tasks: OOK/ASK amplitude, 500 samples per symbol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B77A41-B70E-4563-80B2-1933255D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B37E"/>
          </a:solidFill>
          <a:ln xmlns:a="http://schemas.openxmlformats.org/drawingml/2006/main" w="0">
            <a:solidFill>
              <a:srgbClr val="36B37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657C42-A71F-466A-9096-EE589E99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006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Song metadata: 4-level ASK, 2 bits per symbol, MSB order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055CCA-C27C-4E05-88B7-C47FA3D8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95700"/>
            <a:ext cx="4476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A723B3-6244-4CF1-A2B6-39DEDB47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43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Why this matters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466E07-D4E8-48E1-B263-A8434E03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B9F9F0-E2DA-4F64-AC55-27742761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0055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Change C/Python/GNU Radio files and reload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AF5E6C-FD73-49D4-81F3-07588C87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76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189284-6C99-4912-9020-81074AA8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006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Keep captured recordings as optional evidence snapshots</a:t>
            </a:r>
          </a:p>
        </p:txBody>
      </p:sp>
    </p:spTree>
    <p:extLst>
      <p:ext uri="{BB962C8B-B14F-4D97-AF65-F5344CB8AC3E}">
        <p14:creationId xmlns:p14="http://schemas.microsoft.com/office/powerpoint/2010/main" val="2416462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8D3760F7-C900-43AC-8D49-C47BB42A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Cyber depth is woven through the RF story</a:t>
            </a:r>
          </a:p>
        </p:txBody>
      </p:sp>
      <p:sp>
        <p:nvSpPr>
          <p:cNvPr id="2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7A40304A-8C66-4324-BC8D-2D1F6FFB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16F"/>
                </a:solidFill>
              </a:defRPr>
            </a:pPr>
            <a:r>
              <a:rPr sz="1500" b="0">
                <a:solidFill>
                  <a:srgbClr val="56616F"/>
                </a:solidFill>
              </a:rPr>
              <a:t>The project starts with backend exploitation and grows into reverse engineering, binary exploitation, firmware, HDL and operator-console trust failures.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84274-243F-40EC-8879-83E71FDB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491"/>
                </a:solidFill>
              </a:defRPr>
            </a:pPr>
            <a:r>
              <a:rPr sz="900" b="1">
                <a:solidFill>
                  <a:srgbClr val="7B8491"/>
                </a:solidFill>
              </a:rPr>
              <a:t>SIGNAL FORGE CTF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E6FBC-A721-4CBD-B4D5-D7A35DA3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491"/>
                </a:solidFill>
              </a:defRPr>
            </a:pPr>
            <a:r>
              <a:rPr sz="1050" b="0">
                <a:solidFill>
                  <a:srgbClr val="7B8491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B0B57-059A-40B2-A8BC-0000150C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105FC-B63F-4736-8888-9F97D4E3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95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DFFEA-4234-451A-9CE4-0FD845E6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28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SQLi + logic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1B6FB-DD0B-44A7-9B1E-E44EA8BA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</a:defRPr>
            </a:pPr>
            <a:r>
              <a:rPr sz="1200" b="0">
                <a:solidFill>
                  <a:srgbClr val="56616F"/>
                </a:solidFill>
              </a:rPr>
              <a:t>RF-derived values enter a vulnerable toll/backend API; secure mode contrasts parameterized queries and server-side authorization.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3935C-8436-4D32-97EA-271BA0D3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DE6F6-79E9-4E6A-AF42-3778A8B8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95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37E"/>
          </a:solidFill>
          <a:ln xmlns:a="http://schemas.openxmlformats.org/drawingml/2006/main" w="9525">
            <a:solidFill>
              <a:srgbClr val="36B37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BC8DE-2474-4FA0-880C-D54E371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Reverse engineering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24563-4B15-4103-BF29-F0DF5E22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</a:defRPr>
            </a:pPr>
            <a:r>
              <a:rPr sz="1200" b="0">
                <a:solidFill>
                  <a:srgbClr val="56616F"/>
                </a:solidFill>
              </a:rPr>
              <a:t>Decoder, firmware and packet formats require learners to recover fields, checks, hidden states and control paths.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6BCC2-5E96-484A-A4D1-E2E3A1A9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3B6AD-EDDF-44F6-AEB2-AEA95DA1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5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353"/>
          </a:solidFill>
          <a:ln xmlns:a="http://schemas.openxmlformats.org/drawingml/2006/main" w="9525">
            <a:solidFill>
              <a:srgbClr val="E553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FD942-E635-4404-A312-64A03ADB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Binary exploitation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09E2C-E7F8-4474-BF82-33211BF9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</a:defRPr>
            </a:pPr>
            <a:r>
              <a:rPr sz="1200" b="0">
                <a:solidFill>
                  <a:srgbClr val="56616F"/>
                </a:solidFill>
              </a:rPr>
              <a:t>Synthetic parser targets cover length mismatch, unsafe copy, format logging and controlled local success effects.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05E26-6877-4583-9D4E-52A34F60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5760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B4506-D543-465C-86D8-BFE0D121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57600"/>
            <a:ext cx="95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9525">
            <a:solidFill>
              <a:srgbClr val="F5A5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D89DB-46BA-491F-A710-EEA200F7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48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Hardware security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96514-943E-4FC8-9D1A-4898F892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910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</a:defRPr>
            </a:pPr>
            <a:r>
              <a:rPr sz="1200" b="0">
                <a:solidFill>
                  <a:srgbClr val="56616F"/>
                </a:solidFill>
              </a:rPr>
              <a:t>HDL state machines, bitstream logic and frequency-routing flaws connect cyber control to physical decisions.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92184-1D54-4BD2-A849-503B4B54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816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The harder levels should combine domains: cryptographically valid but stale packets, memory-safe but authorization-broken parsers, and RF events that become software input.</a:t>
            </a:r>
          </a:p>
        </p:txBody>
      </p:sp>
    </p:spTree>
    <p:extLst>
      <p:ext uri="{BB962C8B-B14F-4D97-AF65-F5344CB8AC3E}">
        <p14:creationId xmlns:p14="http://schemas.microsoft.com/office/powerpoint/2010/main" val="7437992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7BD95111-1AFA-4FE7-A06D-1DF3D087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advanced end should feel like current contested-spectrum practice</a:t>
            </a:r>
          </a:p>
        </p:txBody>
      </p:sp>
      <p:sp>
        <p:nvSpPr>
          <p:cNvPr id="2" name="slide-8-subtitle">
            <a:extLst xmlns:a="http://schemas.openxmlformats.org/drawingml/2006/main">
              <a:ext uri="{FF2B5EF4-FFF2-40B4-BE49-F238E27FC236}">
                <a16:creationId xmlns:a16="http://schemas.microsoft.com/office/drawing/2014/main" id="{9FC159BF-F4DC-45A2-AC2E-40C84D1D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16F"/>
                </a:solidFill>
              </a:defRPr>
            </a:pPr>
            <a:r>
              <a:rPr sz="1500" b="0">
                <a:solidFill>
                  <a:srgbClr val="56616F"/>
                </a:solidFill>
              </a:rPr>
              <a:t>The project’s stretch goal is not just harder puzzles; it is layered security thinking across hardware, propagation, jamming, cyber and detection.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3C908-11EF-46BC-B9D5-71C70CBD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491"/>
                </a:solidFill>
              </a:defRPr>
            </a:pPr>
            <a:r>
              <a:rPr sz="900" b="1">
                <a:solidFill>
                  <a:srgbClr val="7B8491"/>
                </a:solidFill>
              </a:rPr>
              <a:t>SIGNAL FORGE CTF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12F2E-E373-4BCB-8A61-273ED98B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491"/>
                </a:solidFill>
              </a:defRPr>
            </a:pPr>
            <a:r>
              <a:rPr sz="1050" b="0">
                <a:solidFill>
                  <a:srgbClr val="7B8491"/>
                </a:solidFill>
              </a:rPr>
              <a:t>08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4857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213013bc164d3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C3B54-EFB7-4245-B9DC-FFAF5330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4857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215B2-E99F-46D1-B874-824A1630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193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5F507-9D72-4FE0-825A-3B0B33C6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81200"/>
            <a:ext cx="403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RF and propagation realism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886D1-1DCE-4744-A120-3B04E959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66950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Fading, Doppler, receiver dynamic range, AGC and adjacent-channel effects.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AA9B9-C4DA-404C-9A95-FFCB146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4857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DABE0-8AFE-4B73-B9D3-4B07A8BB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956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99B36-921E-4F5F-B49D-49E12A92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403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Jamming and deception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76943-6307-475A-AD25-9B50E5BB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43250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Spot, barrage, sweep, follower, replay and protocol-aware interference.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A6104-BF2B-423F-ADDD-31D47D28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4857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A70A0-AC5D-47A7-B9FF-3A26AB07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6D335-0317-4B27-9D27-D044B148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33800"/>
            <a:ext cx="403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Hardware trust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C58EC-B07D-4528-8B56-ADE56B2F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9550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Secure boot, signed firmware, key separation, attestation and HDL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7164D-0700-40AC-9CAC-7232C2CF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4857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DFE66-3B11-40B0-B5A6-3F72E753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AD85C4-8A88-411D-B34A-DE183561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403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Fusion and anomaly detection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CD353D-5556-4E98-BB13-D3E3F12E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95850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RF features, protocol state, backend logs and operator effects correlated together.</a:t>
            </a:r>
          </a:p>
        </p:txBody>
      </p:sp>
    </p:spTree>
    <p:extLst>
      <p:ext uri="{BB962C8B-B14F-4D97-AF65-F5344CB8AC3E}">
        <p14:creationId xmlns:p14="http://schemas.microsoft.com/office/powerpoint/2010/main" val="4122159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C1CD3484-D8C1-4FB2-8F7D-F5EDA751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Evidence and testing turn the concept into an assessable project</a:t>
            </a:r>
          </a:p>
        </p:txBody>
      </p:sp>
      <p:sp>
        <p:nvSpPr>
          <p:cNvPr id="2" name="slide-9-subtitle">
            <a:extLst xmlns:a="http://schemas.openxmlformats.org/drawingml/2006/main">
              <a:ext uri="{FF2B5EF4-FFF2-40B4-BE49-F238E27FC236}">
                <a16:creationId xmlns:a16="http://schemas.microsoft.com/office/drawing/2014/main" id="{5BC57A54-0038-4753-8AA1-7225DD5C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16F"/>
                </a:solidFill>
              </a:defRPr>
            </a:pPr>
            <a:r>
              <a:rPr sz="1500" b="0">
                <a:solidFill>
                  <a:srgbClr val="56616F"/>
                </a:solidFill>
              </a:rPr>
              <a:t>The project now has a requirements spreadsheet, structured task data, local validation, and repeatable signal generation hooks.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4D655-A6CE-4B45-B2FD-ECE2122D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491"/>
                </a:solidFill>
              </a:defRPr>
            </a:pPr>
            <a:r>
              <a:rPr sz="900" b="1">
                <a:solidFill>
                  <a:srgbClr val="7B8491"/>
                </a:solidFill>
              </a:rPr>
              <a:t>SIGNAL FORGE CTF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C7FA7-8BDB-4EF4-ACB4-93E1BA4C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491"/>
                </a:solidFill>
              </a:defRPr>
            </a:pPr>
            <a:r>
              <a:rPr sz="1050" b="0">
                <a:solidFill>
                  <a:srgbClr val="7B8491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87587-AC6F-4A5E-94A1-DF445DEF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4629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CAAF1-BC68-44CB-9475-4D4CA90B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Evidence package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F82E3-6D97-4060-9BFC-B59A3D6A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B5185-FB9F-4E76-A4F6-7708621B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358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Spreadsheet maps subtasks, flag location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2959E-A0F3-477D-8137-916A872C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A8051-3819-4F17-8C3D-58C04DF2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24200"/>
            <a:ext cx="358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Contexts and challenges are generated into 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A6580-D328-4244-BC8C-DD95DF16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13DBF-ABB1-41DD-8056-A2E496C8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24250"/>
            <a:ext cx="358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Flags validate server-side, not in browser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C4E32-4270-467A-9B3F-304DFE6A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DA99F-9306-41A2-83C1-DF00D3E5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24300"/>
            <a:ext cx="358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GNU Radio task replays stem from generated scripts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80F03-23EB-4F23-B1AA-E3C422E4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B8C5C-80EE-4975-9476-A0E9CF2D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24350"/>
            <a:ext cx="358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Guide page explains WSL, ZMQ and external signal feed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A7E24-15CB-4ADE-9EB3-79954E46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629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83043-9B04-4013-9C2E-63145C3B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Test focus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238EB-33F6-413F-9FE2-767D62B6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B37E"/>
          </a:solidFill>
          <a:ln xmlns:a="http://schemas.openxmlformats.org/drawingml/2006/main" w="0">
            <a:solidFill>
              <a:srgbClr val="36B37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D4C0B-5E4D-4737-AA7F-25C2A0F1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24150"/>
            <a:ext cx="358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All challenge pages render without leaked answers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F90BC-EB6A-4328-98DC-798D7D06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B37E"/>
          </a:solidFill>
          <a:ln xmlns:a="http://schemas.openxmlformats.org/drawingml/2006/main" w="0">
            <a:solidFill>
              <a:srgbClr val="36B37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1565C-C00E-47E3-8B52-F7AC1250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24200"/>
            <a:ext cx="358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Waterfall, cursors, zoom and pause/play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3F8BAD-2B7E-48D6-8BCD-7ADC63EE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B37E"/>
          </a:solidFill>
          <a:ln xmlns:a="http://schemas.openxmlformats.org/drawingml/2006/main" w="0">
            <a:solidFill>
              <a:srgbClr val="36B37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3A2ED6-7E87-4026-BCE4-889AA5E1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358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Script terminal can receive, tune, interfere and transmit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F92063-51CB-45F6-BB69-F8099FD4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B37E"/>
          </a:solidFill>
          <a:ln xmlns:a="http://schemas.openxmlformats.org/drawingml/2006/main" w="0">
            <a:solidFill>
              <a:srgbClr val="36B37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3E7C34-AD26-4765-AC0B-98977592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24300"/>
            <a:ext cx="358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Attack mode succeeds where secure mode rejects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EB7F29-F761-491E-9FA0-4A75C7A1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B37E"/>
          </a:solidFill>
          <a:ln xmlns:a="http://schemas.openxmlformats.org/drawingml/2006/main" w="0">
            <a:solidFill>
              <a:srgbClr val="36B37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E7FD6A-F639-420C-B593-A9F52EF2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24350"/>
            <a:ext cx="358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Raw IQ and live SSE endpoints remain bounded</a:t>
            </a:r>
          </a:p>
        </p:txBody>
      </p:sp>
    </p:spTree>
    <p:extLst>
      <p:ext uri="{BB962C8B-B14F-4D97-AF65-F5344CB8AC3E}">
        <p14:creationId xmlns:p14="http://schemas.microsoft.com/office/powerpoint/2010/main" val="17171593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2A2D6AF1-BDC6-487F-87E4-836580C7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next build should convert the outline into a serious training range</a:t>
            </a:r>
          </a:p>
        </p:txBody>
      </p:sp>
      <p:sp>
        <p:nvSpPr>
          <p:cNvPr id="2" name="slide-10-subtitle">
            <a:extLst xmlns:a="http://schemas.openxmlformats.org/drawingml/2006/main">
              <a:ext uri="{FF2B5EF4-FFF2-40B4-BE49-F238E27FC236}">
                <a16:creationId xmlns:a16="http://schemas.microsoft.com/office/drawing/2014/main" id="{B1A9EBCD-22ED-4027-A9BA-4FEDF8F1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16F"/>
                </a:solidFill>
              </a:defRPr>
            </a:pPr>
            <a:r>
              <a:rPr sz="1500" b="0">
                <a:solidFill>
                  <a:srgbClr val="56616F"/>
                </a:solidFill>
              </a:rPr>
              <a:t>The bones are in place. The highest-value work is adding richer signal schemes, stronger local binaries, and a clearer assessor-facing evidence trail.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D216E-4880-412C-A3D9-E99EFD7F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8491"/>
                </a:solidFill>
              </a:defRPr>
            </a:pPr>
            <a:r>
              <a:rPr sz="900" b="1">
                <a:solidFill>
                  <a:srgbClr val="7B8491"/>
                </a:solidFill>
              </a:rPr>
              <a:t>SIGNAL FORGE CTF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93982-45C2-47BB-BFF5-8E9EBBB9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B8491"/>
                </a:solidFill>
              </a:defRPr>
            </a:pPr>
            <a:r>
              <a:rPr sz="1050" b="0">
                <a:solidFill>
                  <a:srgbClr val="7B8491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DA083-80C2-4829-BFE1-7CEF8769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971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0EB8A-14B5-44C8-AC74-55155103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812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72681-B85B-4516-8067-1E729829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43100"/>
            <a:ext cx="889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Unique signal per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501BF-5B90-4779-B0EF-2E3F1CC7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2885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Move beyond repeated ASK/OOK into FSK, hopping audio, DSSS-like spreading, replay and jamming classifiers.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AC048-7A62-4189-AAA8-3A326504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971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E0309-5D82-406C-BF1D-F4B0A71C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194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C9244-B16F-4873-AA99-0C958364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81300"/>
            <a:ext cx="889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Hard cyber artifacts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8DC16-F0E9-464B-8EA8-70FE2549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6705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Build stripped binaries, firmware images, fuzz harnesses and safe patched comparisons.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B08FF-934F-4F5E-AA59-7160F4DD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971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A3B76-EBCC-4749-9E9B-62CF65C0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7C20F-5773-41A7-8CDC-A0248F98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19500"/>
            <a:ext cx="889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Operational effects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FE3F0-ADBE-482E-B7B6-D3022B28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0525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Make signs, consoles, warning lights, relay nodes and gates visibly react to solved tasks.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2AECA-94D5-4F3B-B0F3-E763B291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971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289F6A-FFC1-471D-95C6-B132E5EE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958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755DE9-968C-4F3A-87DD-C0C25EE3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57700"/>
            <a:ext cx="889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Assessment polish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5DABA-EB9C-456F-BF29-2604FD5A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4345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Keep answers server-side, write solver notes, and preserve a requirements-to-evidence matrix.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1428750" y="5600700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1FDE85-9DCD-4EDE-BB64-34EC7CDA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91200"/>
            <a:ext cx="901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 strong final version teaches people to think like RF operators and cyber defenders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1321293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2026-07-19T06:51:31.4250000Z</dcterms:created>
  <dcterms:modified xsi:type="dcterms:W3CDTF">2026-07-19T06:51:31.4250000Z</dcterms:modified>
</coreProperties>
</file>